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approved knowledge base: KP-BRAND-001; KP-FAF-001; KP-FAF-047; KP-CRAFT-002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https://www.nhc.gov.cn/yzygj/c100068/202604/4133f984e77741299f1c4660de1947f0.shtml</a:t>
            </a:r>
          </a:p>
          <a:p>
            <a:r>
              <a:t>- https://app.www.gov.cn/govdata/gov/202504/28/527934/article.html</a:t>
            </a:r>
          </a:p>
          <a:p>
            <a:r>
              <a:t>- https://www.who.int/en/news-room/fact-sheets/detail/mental-disorders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https://www.nhc.gov.cn/yzygj/c100068/202604/4133f984e77741299f1c4660de1947f0.shtml</a:t>
            </a:r>
          </a:p>
          <a:p>
            <a:r>
              <a:t>- Internal approved knowledge base: KP-BRAND-001; KP-FAF-001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approved knowledge base: KP-MECH-001; KP-MECH-002; KP-MECH-003; KP-MECH-004; KP-MECH-005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approved knowledge base: approved SOP and service-flow entries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https://journals.plos.org/plosone/article?id=10.1371%2Fjournal.pone.0286899</a:t>
            </a:r>
          </a:p>
          <a:p>
            <a:r>
              <a:t>- https://journals.plos.org/plosone/article?id=10.1371%2Fjournal.pone.0190292</a:t>
            </a:r>
          </a:p>
          <a:p>
            <a:r>
              <a:t>- Internal approved knowledge base: KP-WEB-010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approved knowledge base: KP-WEB-005; KP-WEB-006; KP-WEB-010; approved compliance boundaries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approved knowledge base: approved sanitation and SOP entries; model-specific parameters must be verified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approved knowledge base: approved positioning, platform, certification, research, SOP and training entries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approved knowledge base: KP-FAF-047; KP-CRAFT-002; approved operating and evidence-stack entries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https://bjhgjt.com.cn/About/</a:t>
            </a:r>
          </a:p>
          <a:p>
            <a:r>
              <a:t>- https://www.bjhgjt.com.cn/news/Group/2025/1231/4408.html</a:t>
            </a:r>
          </a:p>
          <a:p>
            <a:r>
              <a:t>- https://www.bjhgjt.com.cn/news/Group/2024/0722/4041.html</a:t>
            </a:r>
          </a:p>
          <a:p>
            <a:r>
              <a:t>- https://www.bjhgjt.com.cn/news/xingyezixun/2026/0330/4479.html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https://www.bjhgjt.com.cn/news/Group/2025/1216/4399.html</a:t>
            </a:r>
          </a:p>
          <a:p>
            <a:r>
              <a:t>- https://www.bjhgjt.com.cn/news/Group/2026/0119/4430.html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Synthesis of the sources cited on slides 2-13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6304F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731520" y="960120"/>
            <a:ext cx="10058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spc="200">
                <a:solidFill>
                  <a:srgbClr val="93C5FD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FLOATING ARK · 漂浮方舟</a:t>
            </a:r>
            <a:endParaRPr sz="1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31520" y="1417320"/>
            <a:ext cx="1042416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150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心理健康产业的</a:t>
            </a:r>
            <a:endParaRPr sz="3400"/>
          </a:p>
          <a:p>
            <a:pPr marL="0" indent="0">
              <a:lnSpc>
                <a:spcPct val="115000"/>
              </a:lnSpc>
              <a:buNone/>
            </a:pPr>
            <a:r>
              <a:rPr sz="3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深度恢复入口</a:t>
            </a:r>
            <a:endParaRPr sz="3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3429000"/>
            <a:ext cx="104241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>
                <a:solidFill>
                  <a:srgbClr val="CBD5E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与北京化工集团第一次交流 · 产业方向与投资协同</a:t>
            </a:r>
            <a:endParaRPr sz="17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77240" y="402336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31520" y="4251960"/>
            <a:ext cx="10058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中友瑞水（北京）科技有限公司 · 北京亦庄</a:t>
            </a:r>
            <a:endParaRPr sz="13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31520" y="6400800"/>
            <a:ext cx="104241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>
                <a:solidFill>
                  <a:srgbClr val="64748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本场只做项目介绍与方向判断，不涉及估值与投资条款</a:t>
            </a:r>
            <a:endParaRPr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一句话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我们把深度恢复，做成可复制的心理健康基础能力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18872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ECFDF5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353312"/>
            <a:ext cx="107899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</a:pPr>
            <a:r>
              <a:rPr sz="1600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在日常压力管理与专业心理服务之间，提供一个非药物、低刺激、可标准化交付的恢复环节；</a:t>
            </a:r>
            <a:endParaRPr sz="1600"/>
          </a:p>
          <a:p>
            <a:pPr marL="0" indent="0">
              <a:lnSpc>
                <a:spcPct val="120000"/>
              </a:lnSpc>
              <a:buNone/>
            </a:pPr>
            <a:r>
              <a:rPr sz="1600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再把设备、评估、体验、消杀、复访连成一套可运营、可扩展的系统。</a:t>
            </a:r>
            <a:endParaRPr sz="16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50292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722376" y="27980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不只是一台漂浮舱</a:t>
            </a:r>
            <a:endParaRPr sz="15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22376" y="3218688"/>
            <a:ext cx="314858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舱体只是入口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交付来自整套系统</a:t>
            </a:r>
            <a:endParaRPr sz="125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432816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4547616" y="27980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不替代专业心理服务</a:t>
            </a:r>
            <a:endParaRPr sz="15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4547616" y="3218688"/>
            <a:ext cx="314858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守住非医疗边界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与咨询、医疗形成补充</a:t>
            </a:r>
            <a:endParaRPr sz="125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8153400" y="265176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8372856" y="27980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是可复制的产业单元</a:t>
            </a:r>
            <a:endParaRPr sz="15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8372856" y="3218688"/>
            <a:ext cx="314858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设备 + SOP + 培训 + 认证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可跨地点、跨场景交付</a:t>
            </a:r>
            <a:endParaRPr sz="125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4663440"/>
            <a:ext cx="10789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公司在做四件事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系统供应   ｜   运营服务   ｜   资质认证   ｜   人才培训</a:t>
            </a:r>
            <a:endParaRPr sz="16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731520" y="5440680"/>
            <a:ext cx="10789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从设备到运营，把“恢复”做成长期能力。</a:t>
            </a:r>
            <a:endParaRPr sz="13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/ 15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心理健康产业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这是一个长期需求正在被正式承接的方向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34440"/>
            <a:ext cx="54635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22376" y="1380744"/>
            <a:ext cx="50246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政策正在搭服务体系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22376" y="1801368"/>
            <a:ext cx="506120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国家提出到 2030 年，基本形成覆盖全人群、全生命周期的社会心理服务体系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心理健康服务正在从少数专业场景，走向更广泛、持续的社会供给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6240780" y="1234440"/>
            <a:ext cx="546354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6460236" y="1380744"/>
            <a:ext cx="50246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供给仍有明显缺口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460236" y="1801368"/>
            <a:ext cx="506120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世界卫生组织指出，全球近 1/7 人受精神障碍影响，多数人仍未获得有效照护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需求真实而长期，但可触达、可持续的服务载体仍不足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502920" y="3611880"/>
            <a:ext cx="11201400" cy="2240280"/>
          </a:xfrm>
          <a:prstGeom prst="roundRect">
            <a:avLst>
              <a:gd name="adj" fmla="val 4082"/>
            </a:avLst>
          </a:prstGeom>
          <a:solidFill>
            <a:srgbClr val="DBEAFE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31520" y="3767328"/>
            <a:ext cx="10789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我们的判断：缺口不只在“治疗”，也在“平时怎么恢复”</a:t>
            </a:r>
            <a:endParaRPr sz="16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77240" y="4160520"/>
            <a:ext cx="10698480" cy="1554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一次性科普多，持续参与少</a:t>
            </a:r>
            <a:endParaRPr sz="140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内容服务多，可体验的线下载体少</a:t>
            </a:r>
            <a:endParaRPr sz="140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单点项目多，能跨场景复制的系统少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/ 15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与心理学的关系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我们补的是心理健康链条中“恢复”这一段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评估之后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22376" y="1847088"/>
            <a:ext cx="314858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把状态识别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接到可体验的恢复动作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432816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专业服务之前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47616" y="1847088"/>
            <a:ext cx="314858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给尚未进入临床的人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一个低门槛入口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8153400" y="128016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专业服务之间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72856" y="1847088"/>
            <a:ext cx="314858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提供恢复支持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不替代心理咨询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0292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22376" y="334670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医疗之外</a:t>
            </a:r>
            <a:endParaRPr sz="15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22376" y="3767328"/>
            <a:ext cx="314858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非药物、非临床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不做病种疗效承诺</a:t>
            </a:r>
            <a:endParaRPr sz="125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432816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4547616" y="334670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线下承载</a:t>
            </a:r>
            <a:endParaRPr sz="15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547616" y="3767328"/>
            <a:ext cx="314858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把心理服务延伸为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可感知的空间体验</a:t>
            </a:r>
            <a:endParaRPr sz="12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8153400" y="3200400"/>
            <a:ext cx="355092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8372856" y="334670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长期管理</a:t>
            </a:r>
            <a:endParaRPr sz="15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8372856" y="3767328"/>
            <a:ext cx="3148584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复访记录沉淀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个体恢复轨迹</a:t>
            </a:r>
            <a:endParaRPr sz="1250"/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FFF7ED"/>
          </a:solidFill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92400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二者是什么关系</a:t>
            </a:r>
            <a:endParaRPr sz="13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31520" y="5349240"/>
            <a:ext cx="10789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心理学提供评估与干预框架；漂浮方舟提供可体验、可运营、可复制的恢复载体。二者互补，不互相替代。</a:t>
            </a:r>
            <a:endParaRPr sz="140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/ 15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工作机理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减负 — 降噪 — 重置 — 整合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1490472" y="1536192"/>
            <a:ext cx="713232" cy="713232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490472" y="1536192"/>
            <a:ext cx="71323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8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85800" y="2377440"/>
            <a:ext cx="2331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减负</a:t>
            </a:r>
            <a:endParaRPr sz="20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85800" y="2761488"/>
            <a:ext cx="2331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浮力降低负荷</a:t>
            </a:r>
            <a:endParaRPr sz="13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108960"/>
            <a:ext cx="2240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2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高浮力盐水托住身体，降低姿势维持与骨骼肌负荷</a:t>
            </a:r>
            <a:endParaRPr sz="12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3200400" y="2514600"/>
            <a:ext cx="16459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2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3364992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</p:spPr>
      </p:sp>
      <p:sp>
        <p:nvSpPr>
          <p:cNvPr id="13" name="Shape 11"/>
          <p:cNvSpPr>
            <a:spLocks noGrp="1"/>
          </p:cNvSpPr>
          <p:nvPr/>
        </p:nvSpPr>
        <p:spPr>
          <a:xfrm>
            <a:off x="4352544" y="1536192"/>
            <a:ext cx="713232" cy="713232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4352544" y="1536192"/>
            <a:ext cx="71323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8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3547872" y="2377440"/>
            <a:ext cx="2331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降噪</a:t>
            </a:r>
            <a:endParaRPr sz="20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3547872" y="2761488"/>
            <a:ext cx="2331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减少感官输入</a:t>
            </a:r>
            <a:endParaRPr sz="13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3593592" y="3108960"/>
            <a:ext cx="2240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2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低刺激环境减少视觉、听觉与触觉输入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062472" y="2514600"/>
            <a:ext cx="16459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20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6227064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</p:spPr>
      </p:sp>
      <p:sp>
        <p:nvSpPr>
          <p:cNvPr id="20" name="Shape 18"/>
          <p:cNvSpPr>
            <a:spLocks noGrp="1"/>
          </p:cNvSpPr>
          <p:nvPr/>
        </p:nvSpPr>
        <p:spPr>
          <a:xfrm>
            <a:off x="7214616" y="1536192"/>
            <a:ext cx="713232" cy="713232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7214616" y="1536192"/>
            <a:ext cx="71323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8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409944" y="2377440"/>
            <a:ext cx="2331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重置</a:t>
            </a:r>
            <a:endParaRPr sz="20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6409944" y="2761488"/>
            <a:ext cx="2331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状态切换</a:t>
            </a:r>
            <a:endParaRPr sz="130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455664" y="3108960"/>
            <a:ext cx="2240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2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为自主神经从持续应答转向休息恢复创造条件</a:t>
            </a:r>
            <a:endParaRPr sz="12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924544" y="2514600"/>
            <a:ext cx="164592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200" b="1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›</a:t>
            </a:r>
            <a:endParaRPr sz="220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9089136" y="1325880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F8FAFC"/>
          </a:solidFill>
        </p:spPr>
      </p:sp>
      <p:sp>
        <p:nvSpPr>
          <p:cNvPr id="27" name="Shape 25"/>
          <p:cNvSpPr>
            <a:spLocks noGrp="1"/>
          </p:cNvSpPr>
          <p:nvPr/>
        </p:nvSpPr>
        <p:spPr>
          <a:xfrm>
            <a:off x="10076688" y="1536192"/>
            <a:ext cx="713232" cy="713232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28" name="Text 26"/>
          <p:cNvSpPr>
            <a:spLocks noGrp="1"/>
          </p:cNvSpPr>
          <p:nvPr/>
        </p:nvSpPr>
        <p:spPr>
          <a:xfrm>
            <a:off x="10076688" y="1536192"/>
            <a:ext cx="713232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80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272016" y="2377440"/>
            <a:ext cx="2331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整合</a:t>
            </a:r>
            <a:endParaRPr sz="200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9272016" y="2761488"/>
            <a:ext cx="2331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3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恢复整合</a:t>
            </a:r>
            <a:endParaRPr sz="130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9317736" y="3108960"/>
            <a:ext cx="22402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r>
              <a:rPr sz="12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研究提示脑电节律可能变化，仍需更多验证</a:t>
            </a:r>
            <a:endParaRPr sz="1200"/>
          </a:p>
        </p:txBody>
      </p:sp>
      <p:sp>
        <p:nvSpPr>
          <p:cNvPr id="32" name="Shape 30"/>
          <p:cNvSpPr>
            <a:spLocks noGrp="1"/>
          </p:cNvSpPr>
          <p:nvPr/>
        </p:nvSpPr>
        <p:spPr>
          <a:xfrm>
            <a:off x="502920" y="4343400"/>
            <a:ext cx="11201400" cy="1554480"/>
          </a:xfrm>
          <a:prstGeom prst="roundRect">
            <a:avLst>
              <a:gd name="adj" fmla="val 5882"/>
            </a:avLst>
          </a:prstGeom>
          <a:solidFill>
            <a:srgbClr val="ECFDF5"/>
          </a:solidFill>
        </p:spPr>
      </p:sp>
      <p:sp>
        <p:nvSpPr>
          <p:cNvPr id="33" name="Text 31"/>
          <p:cNvSpPr>
            <a:spLocks noGrp="1"/>
          </p:cNvSpPr>
          <p:nvPr/>
        </p:nvSpPr>
        <p:spPr>
          <a:xfrm>
            <a:off x="731520" y="4498848"/>
            <a:ext cx="10789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“神经重置”如何理解</a:t>
            </a:r>
            <a:endParaRPr sz="1400"/>
          </a:p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731520" y="4828032"/>
            <a:ext cx="107899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20000"/>
              </a:lnSpc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这是品牌对恢复过程的表达，不等同于医学意义上的神经系统重启。</a:t>
            </a:r>
            <a:endParaRPr sz="1400"/>
          </a:p>
          <a:p>
            <a:pPr marL="0" indent="0">
              <a:lnSpc>
                <a:spcPct val="120000"/>
              </a:lnSpc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真正可交付的是：低刺激环境 + 浮力支持 + 评估、入舱、调度、消杀与复访的标准流程。</a:t>
            </a:r>
            <a:endParaRPr sz="1400"/>
          </a:p>
        </p:txBody>
      </p:sp>
      <p:sp>
        <p:nvSpPr>
          <p:cNvPr id="35" name="Text 33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/ 15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可交付单元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它不是一次放松，而是一套可重复运行的服务流程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80160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536192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min</a:t>
            </a:r>
            <a:endParaRPr sz="17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2651760" y="1536192"/>
            <a:ext cx="2834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到店与筛查</a:t>
            </a:r>
            <a:endParaRPr sz="16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5669280" y="1536192"/>
            <a:ext cx="5760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禁忌与基础状态问询</a:t>
            </a:r>
            <a:endParaRPr sz="14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02920" y="2414016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2670048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min</a:t>
            </a:r>
            <a:endParaRPr sz="17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2651760" y="2670048"/>
            <a:ext cx="2834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入舱准备</a:t>
            </a:r>
            <a:endParaRPr sz="16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5669280" y="2670048"/>
            <a:ext cx="5760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淋浴，进入独立私密舱室</a:t>
            </a:r>
            <a:endParaRPr sz="140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502920" y="3547872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DBEAFE"/>
          </a:solidFill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731520" y="3803904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60–90 min</a:t>
            </a:r>
            <a:endParaRPr sz="17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2651760" y="3803904"/>
            <a:ext cx="2834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沉浸漂浮</a:t>
            </a:r>
            <a:endParaRPr sz="16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5669280" y="3803904"/>
            <a:ext cx="5760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浮力支撑与低刺激环境</a:t>
            </a:r>
            <a:endParaRPr sz="140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502920" y="4681728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4937760"/>
            <a:ext cx="17373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 min</a:t>
            </a:r>
            <a:endParaRPr sz="17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2651760" y="4937760"/>
            <a:ext cx="283464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出舱记录</a:t>
            </a:r>
            <a:endParaRPr sz="16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669280" y="4937760"/>
            <a:ext cx="5760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主观状态记录与复访建议</a:t>
            </a:r>
            <a:endParaRPr sz="140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从准入、体验、净化到复访，每一环都有 SOP；这才具备跨地点复制的条件。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 / 15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证据边界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先证明安全可行，再谈即时状态，最后才是研究前沿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3444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</p:spPr>
      </p:sp>
      <p:sp>
        <p:nvSpPr>
          <p:cNvPr id="6" name="Text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13232" y="1362456"/>
            <a:ext cx="2834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塔基 · 每次都能讲</a:t>
            </a:r>
            <a:endParaRPr sz="1150"/>
          </a:p>
        </p:txBody>
      </p:sp>
      <p:sp>
        <p:nvSpPr>
          <p:cNvPr id="7" name="Text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13232" y="1655064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7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安全与可重复</a:t>
            </a:r>
            <a:endParaRPr sz="1700"/>
          </a:p>
        </p:txBody>
      </p:sp>
      <p:sp>
        <p:nvSpPr>
          <p:cNvPr id="8" name="Text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749040" y="1380744"/>
            <a:ext cx="7680960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2024 年 PLOS ONE 可行性 RCT：75 人、约 6 次体验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依从性约 85%–89%，未报告与干预相关的严重不良事件</a:t>
            </a:r>
            <a:endParaRPr sz="12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02920" y="2715768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</p:spPr>
      </p:sp>
      <p:sp>
        <p:nvSpPr>
          <p:cNvPr id="10" name="Text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13232" y="2843784"/>
            <a:ext cx="2834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塔身 · 谨慎表达</a:t>
            </a:r>
            <a:endParaRPr sz="1150"/>
          </a:p>
        </p:txBody>
      </p:sp>
      <p:sp>
        <p:nvSpPr>
          <p:cNvPr id="11" name="Text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13232" y="3136392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7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即时状态</a:t>
            </a:r>
            <a:endParaRPr sz="1700"/>
          </a:p>
        </p:txBody>
      </p:sp>
      <p:sp>
        <p:nvSpPr>
          <p:cNvPr id="12" name="Text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749040" y="2862072"/>
            <a:ext cx="7680960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单次体验后状态焦虑下降的初步研究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运动恢复以主观感受为主，生化指标并不一致</a:t>
            </a:r>
            <a:endParaRPr sz="1250"/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502920" y="4197096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</p:spPr>
      </p:sp>
      <p:sp>
        <p:nvSpPr>
          <p:cNvPr id="14" name="Text 1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713232" y="4325112"/>
            <a:ext cx="2834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b="1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塔尖 · 只作学术讨论</a:t>
            </a:r>
            <a:endParaRPr sz="1150"/>
          </a:p>
        </p:txBody>
      </p:sp>
      <p:sp>
        <p:nvSpPr>
          <p:cNvPr id="15" name="Text 13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13232" y="46177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7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病种研究</a:t>
            </a:r>
            <a:endParaRPr sz="1700"/>
          </a:p>
        </p:txBody>
      </p:sp>
      <p:sp>
        <p:nvSpPr>
          <p:cNvPr id="16" name="Text 1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749040" y="4343400"/>
            <a:ext cx="7680960" cy="11430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已有小样本探索，但证据仍有限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不转成治疗承诺，也不进入销售口径</a:t>
            </a:r>
            <a:endParaRPr sz="12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i="1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恢复类产品最大的风险不是说得少，而是把早期研究说成确定疗效。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 / 15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2400E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92400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长期边界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边界说清楚，项目才有长期价值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8016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22376" y="1426464"/>
            <a:ext cx="50246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92400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不替代专业服务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22376" y="1847088"/>
            <a:ext cx="506120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不替代心理咨询、精神科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以及临床治疗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6240780" y="128016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6460236" y="1426464"/>
            <a:ext cx="50246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92400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不承诺病种疗效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460236" y="1847088"/>
            <a:ext cx="506120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不使用治愈、治疗率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等医疗化口径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502920" y="324612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22376" y="3392424"/>
            <a:ext cx="50246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92400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不把研究当销售话术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722376" y="3813048"/>
            <a:ext cx="506120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先讲安全与可行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再讲即时状态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240780" y="3246120"/>
            <a:ext cx="546354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6460236" y="3392424"/>
            <a:ext cx="502462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92400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不写未核验规模数字</a:t>
            </a:r>
            <a:endParaRPr sz="15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460236" y="3813048"/>
            <a:ext cx="506120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机构、专利、用户数据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尽调阶段逐项核验</a:t>
            </a:r>
            <a:endParaRPr sz="125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502920" y="489204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ECFDF5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5120640"/>
            <a:ext cx="107899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心理健康产业越敏感，越要先把边界做成制度。合规不是减速，而是规模化的前提。</a:t>
            </a:r>
            <a:endParaRPr sz="15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 / 15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产业化底座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能连续运行、能被巡检，才有资格成为产业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02920" y="1234440"/>
            <a:ext cx="26974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漂浮液回收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200400" y="132588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16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3364992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364992" y="1234440"/>
            <a:ext cx="26974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 精密过滤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062472" y="132588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16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6227064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6227064" y="1234440"/>
            <a:ext cx="26974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 物理消杀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924544" y="1325880"/>
            <a:ext cx="16459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6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→</a:t>
            </a:r>
            <a:endParaRPr sz="160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9089136" y="1234440"/>
            <a:ext cx="2697480" cy="658368"/>
          </a:xfrm>
          <a:prstGeom prst="roundRect">
            <a:avLst>
              <a:gd name="adj" fmla="val 8333"/>
            </a:avLst>
          </a:prstGeom>
          <a:solidFill>
            <a:srgbClr val="1E3A5F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9089136" y="1234440"/>
            <a:ext cx="269748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独立储存</a:t>
            </a:r>
            <a:endParaRPr sz="14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0292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22376" y="224942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纯物理路线</a:t>
            </a:r>
            <a:endParaRPr sz="15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22376" y="2670048"/>
            <a:ext cx="219227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臭氧、紫外与光触媒路线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不添加澄清剂与养护剂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参数以型号文件为准</a:t>
            </a:r>
            <a:endParaRPr sz="1250"/>
          </a:p>
        </p:txBody>
      </p:sp>
      <p:sp>
        <p:nvSpPr>
          <p:cNvPr id="19" name="Shape 17"/>
          <p:cNvSpPr>
            <a:spLocks noGrp="1"/>
          </p:cNvSpPr>
          <p:nvPr/>
        </p:nvSpPr>
        <p:spPr>
          <a:xfrm>
            <a:off x="337185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3591306" y="224942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过滤与储液</a:t>
            </a:r>
            <a:endParaRPr sz="150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3591306" y="2670048"/>
            <a:ext cx="219227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精密过滤 + 复合滤材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净化后进入独立储液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不跨型号引用参数</a:t>
            </a:r>
            <a:endParaRPr sz="125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624078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6460236" y="224942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分区与空气</a:t>
            </a:r>
            <a:endParaRPr sz="150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460236" y="2670048"/>
            <a:ext cx="219227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漂浮液、储液箱、舱体与空气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分区处理、分别巡检</a:t>
            </a:r>
            <a:endParaRPr sz="125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9109710" y="2103120"/>
            <a:ext cx="259461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9329166" y="224942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日常可查</a:t>
            </a:r>
            <a:endParaRPr sz="15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9329166" y="2670048"/>
            <a:ext cx="219227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回水、泵压、滤材、渗漏与水温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按周期检查并留记录</a:t>
            </a:r>
            <a:endParaRPr sz="125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731520" y="4892040"/>
            <a:ext cx="2743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工程纪律</a:t>
            </a:r>
            <a:endParaRPr sz="1300"/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731520" y="5212080"/>
            <a:ext cx="10789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心理健康服务进入线下设备，就必须像工业设备一样管理。具体工艺、时长与检测结果，以锁定型号的技术文件和最新检验报告为准。</a:t>
            </a:r>
            <a:endParaRPr sz="135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 / 15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产业化起点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我们已经具备从产品到交付的基本闭环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产品与平台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22376" y="1847088"/>
            <a:ext cx="3148584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自研舱体、控制与净化系统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多产品线适配不同恢复场景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设备与服务共同交付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432816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资质与检测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47616" y="1847088"/>
            <a:ext cx="3148584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质量体系与产品合规持续建设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相关认证以证书原件为准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检测参数按型号核验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8153400" y="1280160"/>
            <a:ext cx="35509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科研与专家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72856" y="1847088"/>
            <a:ext cx="3148584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心理学与临床专家参与技术路线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持续跟踪国际研究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守住证据表达边界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02920" y="3840480"/>
            <a:ext cx="1120140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31520" y="3977640"/>
            <a:ext cx="10789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运营与人才</a:t>
            </a:r>
            <a:endParaRPr sz="12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31520" y="4315968"/>
            <a:ext cx="10789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5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准入评估   ｜   体验 SOP   ｜   消杀巡检   ｜   复访记录   ｜   人才培训</a:t>
            </a:r>
            <a:endParaRPr sz="14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4736592"/>
            <a:ext cx="10789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i="1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机构、专利与用户规模本场不写死；投资尽调阶段按证书、合同与台账逐项核验。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502920" y="5440680"/>
            <a:ext cx="11201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0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被验证，才值得被信任。</a:t>
            </a:r>
            <a:endParaRPr sz="20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 / 15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产业前景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可持续，不靠一次销售，靠五层能力叠加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 · 产品与工程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22376" y="1847088"/>
            <a:ext cx="3148584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自研设备与关键系统持续迭代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工程化、质量与成本形成产品壁垒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设备销售只是产业起点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432816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二 · 运营与标准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47616" y="1847088"/>
            <a:ext cx="3148584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SOP、培训、认证、维护持续交付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把一次体验变成稳定服务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把人员经验沉淀为组织能力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8153400" y="1280160"/>
            <a:ext cx="355092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三 · 数据、证据与网络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72856" y="1847088"/>
            <a:ext cx="3148584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复访记录推动方案优化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证据积累提高行业可信度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多场景复制形成品牌与标准网络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02920" y="4617720"/>
            <a:ext cx="11201400" cy="1325880"/>
          </a:xfrm>
          <a:prstGeom prst="roundRect">
            <a:avLst>
              <a:gd name="adj" fmla="val 6897"/>
            </a:avLst>
          </a:prstGeom>
          <a:solidFill>
            <a:srgbClr val="ECFDF5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31520" y="4773168"/>
            <a:ext cx="10789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700" b="1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设备是起点，运营与证据让项目持续，标准与网络把单点做成产业。</a:t>
            </a:r>
            <a:endParaRPr sz="17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31520" y="5212080"/>
            <a:ext cx="107899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扩展方向：心理恢复 / 睡眠管理 / 运动恢复 / 高压人群恢复——统一以合规证据边界为前提。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 / 15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北化协同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北化接入的不是一个点位，而是一条产业能力链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22376" y="142646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资本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22376" y="1847088"/>
            <a:ext cx="219227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战略投资或分阶段增持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支持核心能力建设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337185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591306" y="142646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孵化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3591306" y="1847088"/>
            <a:ext cx="219227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接入孵化—加速—产业化体系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补齐治理、人才与渠道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624078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6460236" y="142646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制造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6460236" y="1847088"/>
            <a:ext cx="219227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导入质量、供应链与材料工艺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推动工程化与成本优化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9109710" y="1280160"/>
            <a:ext cx="259461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9329166" y="1426464"/>
            <a:ext cx="215569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资源</a:t>
            </a:r>
            <a:endParaRPr sz="15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9329166" y="1847088"/>
            <a:ext cx="219227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链接园区、科技服务与产业伙伴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使用场景只是可选验证</a:t>
            </a:r>
            <a:endParaRPr sz="125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502920" y="3291840"/>
            <a:ext cx="11201400" cy="1874520"/>
          </a:xfrm>
          <a:prstGeom prst="roundRect">
            <a:avLst>
              <a:gd name="adj" fmla="val 4878"/>
            </a:avLst>
          </a:prstGeom>
          <a:solidFill>
            <a:srgbClr val="F8FAFC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3456432"/>
            <a:ext cx="107899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为什么和北化有关系</a:t>
            </a:r>
            <a:endParaRPr sz="15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777240" y="3822192"/>
            <a:ext cx="1069848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北化公开战略以生物医药孵化与智能制造、特种化学品制造与服务为两大主业，并强调创新链、产业链、资本链、人才链协同。</a:t>
            </a:r>
            <a:endParaRPr sz="135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漂浮方舟可作为心理健康与主动健康方向的产业项目，接入资本、孵化、制造与资源协同。</a:t>
            </a:r>
            <a:endParaRPr sz="13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02920" y="5349240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731520" y="5349240"/>
            <a:ext cx="1078992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92400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简单说：北化让项目更像产业；项目为北化大健康版图增加一个可扩展的心理健康入口。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 / 15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进入方式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投资关系先定，验证动作按尽调需要安排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22376" y="147218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战略投资</a:t>
            </a:r>
            <a:endParaRPr sz="15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22376" y="1892808"/>
            <a:ext cx="314858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以股权投资进入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支持核心技术、团队与渠道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先占心理健康产业入口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432816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4547616" y="147218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联合产业平台</a:t>
            </a:r>
            <a:endParaRPr sz="15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4547616" y="1892808"/>
            <a:ext cx="314858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共同搭建产品、运营或制造平台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北化导入资源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我们负责产品与系统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815340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372856" y="1472184"/>
            <a:ext cx="31120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分阶段推进</a:t>
            </a:r>
            <a:endParaRPr sz="15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72856" y="1892808"/>
            <a:ext cx="3148584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先完成技术、合规与商业尽调</a:t>
            </a:r>
            <a:endParaRPr sz="125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sz="12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再按里程碑投资或增持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02920" y="4023360"/>
            <a:ext cx="11201400" cy="1920240"/>
          </a:xfrm>
          <a:prstGeom prst="roundRect">
            <a:avLst>
              <a:gd name="adj" fmla="val 5714"/>
            </a:avLst>
          </a:prstGeom>
          <a:solidFill>
            <a:srgbClr val="ECFDF5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31520" y="4224528"/>
            <a:ext cx="107899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065F4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本项目不以园区试点为前提</a:t>
            </a:r>
            <a:endParaRPr sz="15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731520" y="4617720"/>
            <a:ext cx="107899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验证可做，但只是尽调工具，不是合作终点</a:t>
            </a:r>
            <a:endParaRPr sz="26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5257800"/>
            <a:ext cx="1078992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本场不谈估值和条款，只确认：这个方向是否值得一起做大。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 / 15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spc="100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交流收束</a:t>
            </a:r>
            <a:endParaRPr sz="115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E3A5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今天只确认三件事：方向、关系、下一步</a:t>
            </a:r>
            <a:endParaRPr sz="26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02920" y="1234440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234440"/>
            <a:ext cx="19202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产业判断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2743200" y="1234440"/>
            <a:ext cx="86868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心理健康服务是长期需求，不是短期风口</a:t>
            </a:r>
            <a:endParaRPr sz="13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02920" y="1947672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31520" y="1947672"/>
            <a:ext cx="19202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项目定位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2743200" y="1947672"/>
            <a:ext cx="86868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提供可标准化的深度恢复能力，不做临床治疗</a:t>
            </a:r>
            <a:endParaRPr sz="13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502920" y="2660904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31520" y="2660904"/>
            <a:ext cx="19202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可持续性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2743200" y="2660904"/>
            <a:ext cx="86868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产品、运营、证据、培训与网络共同形成壁垒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502920" y="3374136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31520" y="3374136"/>
            <a:ext cx="19202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北化价值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2743200" y="3374136"/>
            <a:ext cx="86868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资本 + 孵化 + 制造 + 资源，把单点项目推向产业化</a:t>
            </a:r>
            <a:endParaRPr sz="1350"/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502920" y="4087368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4087368"/>
            <a:ext cx="19202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合作逻辑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2743200" y="4087368"/>
            <a:ext cx="86868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投资优先，试点可选；按尽调与里程碑推进</a:t>
            </a:r>
            <a:endParaRPr sz="13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02920" y="4800600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731520" y="4800600"/>
            <a:ext cx="19202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下一步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2743200" y="4800600"/>
            <a:ext cx="86868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围绕产业定位、资源清单与尽调材料，安排专项交流</a:t>
            </a:r>
            <a:endParaRPr sz="1350"/>
          </a:p>
        </p:txBody>
      </p:sp>
      <p:sp>
        <p:nvSpPr>
          <p:cNvPr id="23" name="Shape 21"/>
          <p:cNvSpPr>
            <a:spLocks noGrp="1"/>
          </p:cNvSpPr>
          <p:nvPr/>
        </p:nvSpPr>
        <p:spPr>
          <a:xfrm>
            <a:off x="502920" y="5513832"/>
            <a:ext cx="11201400" cy="621792"/>
          </a:xfrm>
          <a:prstGeom prst="roundRect">
            <a:avLst>
              <a:gd name="adj" fmla="val 735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731520" y="5513832"/>
            <a:ext cx="19202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b="1">
                <a:solidFill>
                  <a:srgbClr val="2563E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本场边界</a:t>
            </a:r>
            <a:endParaRPr sz="14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2743200" y="5513832"/>
            <a:ext cx="868680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1F293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不谈估值、不做疗效承诺；先判断是否同路</a:t>
            </a:r>
            <a:endParaRPr sz="13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漂浮方舟 · 中友瑞水（北京）科技有限公司</a:t>
            </a:r>
            <a:endParaRPr sz="10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 / 15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>
            <a:spLocks noGrp="1"/>
          </p:cNvSpPr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谢谢</a:t>
            </a:r>
            <a:endParaRPr sz="4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822960" y="2606040"/>
            <a:ext cx="100584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>
                <a:solidFill>
                  <a:srgbClr val="CBD5E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把心理健康中重要而薄弱的“恢复”，</a:t>
            </a:r>
            <a:endParaRPr sz="1800"/>
          </a:p>
          <a:p>
            <a:pPr marL="0" indent="0">
              <a:buNone/>
            </a:pPr>
            <a:r>
              <a:rPr sz="1800">
                <a:solidFill>
                  <a:srgbClr val="CBD5E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做成可持续的产业能力</a:t>
            </a:r>
            <a:endParaRPr sz="18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868680" y="329184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ct val="130000"/>
              </a:lnSpc>
              <a:buNone/>
            </a:pPr>
            <a:r>
              <a:rPr sz="1400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中友瑞水（北京）科技有限公司 · 漂浮方舟 FLOATING ARK</a:t>
            </a:r>
            <a:endParaRPr sz="1400"/>
          </a:p>
          <a:p>
            <a:pPr marL="0" indent="0">
              <a:lnSpc>
                <a:spcPct val="130000"/>
              </a:lnSpc>
              <a:buNone/>
            </a:pPr>
            <a:r>
              <a:rPr sz="1400">
                <a:solidFill>
                  <a:srgbClr val="94A3B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北京亦庄   ｜   400-8869-783   ｜   www.float-ark.com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22960" y="6126480"/>
            <a:ext cx="104241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>
                <a:solidFill>
                  <a:srgbClr val="64748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本材料用于初次交流；不构成疗效承诺或投资要约，数据口径以书面尽调材料为准。</a:t>
            </a:r>
            <a:endParaRPr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2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3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4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5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6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7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8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ags/tag9.xml><?xml version="1.0" encoding="utf-8"?>
<p:tagLst xmlns:p="http://schemas.openxmlformats.org/presentationml/2006/main">
  <p:tag name="KSO_WM_DIAGRAM_VIRTUALLY_FRAME" val="{&quot;height&quot;:324.71999999999997,&quot;left&quot;:56.160000000000004,&quot;top&quot;:107.28,&quot;width&quot;:843.83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3380</Words>
  <Application>WPS 演示</Application>
  <PresentationFormat>Converted Presentation</PresentationFormat>
  <Paragraphs>479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光影</cp:lastModifiedBy>
  <cp:revision>1</cp:revision>
  <dcterms:created xsi:type="dcterms:W3CDTF">2026-08-23T07:55:02Z</dcterms:created>
  <dcterms:modified xsi:type="dcterms:W3CDTF">2026-08-23T07:55:02Z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651284CB99FD453FA1F6966151D33E7E_12</vt:lpwstr>
  </property>
  <property fmtid="{D5CDD505-2E9C-101B-9397-08002B2CF9AE}" pid="3" name="KSOProductBuildVer">
    <vt:lpwstr>2052-12.1.0.28043</vt:lpwstr>
  </property>
</Properties>
</file>