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C3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34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D4B4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FLOATING ARK · 漂浮方舟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EF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心理健康产业的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4EF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深度恢复入口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58368" y="3794760"/>
            <a:ext cx="822960" cy="36576"/>
          </a:xfrm>
          <a:prstGeom prst="rect">
            <a:avLst/>
          </a:prstGeom>
          <a:solidFill>
            <a:srgbClr val="A67C5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0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与北京化工集团第一次交流 · 产业方向与投资协同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4805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9A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中友瑞水（北京）科技有限公司 · 北京亦庄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62636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8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本场只做项目介绍与方向判断，不涉及估值与投资条款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EEE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A67C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我们把深度恢复，做成可复制的心理健康基础能力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在日常压力管理与专业心理服务之间，提供一个非药物、低刺激、可标准化交付的恢复环节；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再把设备、评估、体验、消杀、复访连成一套可运营、可扩展的系统。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19456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23317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不只是一台漂浮舱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04088" y="301752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舱体只是入口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交付来自整套系统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219456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23317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不替代专业心理服务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98848" y="301752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守住非医疗边界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与咨询、医疗形成补充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92440" y="219456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93608" y="23317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是可复制的产业单元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93608" y="301752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 + SOP + 培训 + 认证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可跨地点、跨场景交付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4343400"/>
            <a:ext cx="11201400" cy="1874520"/>
          </a:xfrm>
          <a:prstGeom prst="roundRect">
            <a:avLst>
              <a:gd name="adj" fmla="val 2927"/>
            </a:avLst>
          </a:prstGeom>
          <a:solidFill>
            <a:srgbClr val="1A2C3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480560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B4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公司在做四件事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828032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系统供应   ｜   运营服务   ｜   资质认证   ｜   人才培训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1520" y="532180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从设备到运营，把“恢复”做成长期能力。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8778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7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漂浮方舟 · 中友瑞水（北京）科技有限公司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332720" y="651052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7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EEE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A67C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心理健康产业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这是一个长期需求正在被正式承接的方向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5486400" cy="2468880"/>
          </a:xfrm>
          <a:prstGeom prst="roundRect">
            <a:avLst>
              <a:gd name="adj" fmla="val 2222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4173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政策正在搭服务体系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" y="1874520"/>
            <a:ext cx="50749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国家提出到 2030 年，基本形成覆盖全人群、全生命周期的社会心理服务体系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心理健康服务正在从少数专业场景，走向更广泛、持续的社会供给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280160"/>
            <a:ext cx="5532120" cy="2468880"/>
          </a:xfrm>
          <a:prstGeom prst="roundRect">
            <a:avLst>
              <a:gd name="adj" fmla="val 2222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2512" y="1417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供给仍有明显缺口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82512" y="1874520"/>
            <a:ext cx="51206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世界卫生组织指出，全球近 1/7 人受精神障碍影响，多数人仍未获得有效照护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需求真实而长期，但可触达、可持续的服务载体仍不足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931920"/>
            <a:ext cx="11201400" cy="2286000"/>
          </a:xfrm>
          <a:prstGeom prst="roundRect">
            <a:avLst>
              <a:gd name="adj" fmla="val 2400"/>
            </a:avLst>
          </a:prstGeom>
          <a:solidFill>
            <a:srgbClr val="E8D7C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0690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我们的判断：缺口不只在“治疗”，也在“平时怎么恢复”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46634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一次性科普多，持续参与少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389120" y="46634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内容服务多，可体验的线下载体少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46720" y="46634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单点项目多，能跨场景复制的系统少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8778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7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漂浮方舟 · 中友瑞水（北京）科技有限公司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332720" y="651052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7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15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EEE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A67C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与心理学的关系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我们补的是心理健康链条中“恢复”这一段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3611880" cy="1737360"/>
          </a:xfrm>
          <a:prstGeom prst="roundRect">
            <a:avLst>
              <a:gd name="adj" fmla="val 3158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1673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7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评估之后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627632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把状态识别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接到可体验的恢复动作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97680" y="1188720"/>
            <a:ext cx="3611880" cy="1737360"/>
          </a:xfrm>
          <a:prstGeom prst="roundRect">
            <a:avLst>
              <a:gd name="adj" fmla="val 3158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31673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7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专业服务之前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0" y="1627632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给尚未进入临床的人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一个低门槛入口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92440" y="1188720"/>
            <a:ext cx="3611880" cy="1737360"/>
          </a:xfrm>
          <a:prstGeom prst="roundRect">
            <a:avLst>
              <a:gd name="adj" fmla="val 3158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131673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7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专业服务之间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75320" y="1627632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提供恢复支持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不替代心理咨询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3063240"/>
            <a:ext cx="3611880" cy="1737360"/>
          </a:xfrm>
          <a:prstGeom prst="roundRect">
            <a:avLst>
              <a:gd name="adj" fmla="val 3158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19125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7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医疗之外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3502152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非药物、非临床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不做病种疗效承诺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97680" y="3063240"/>
            <a:ext cx="3611880" cy="1737360"/>
          </a:xfrm>
          <a:prstGeom prst="roundRect">
            <a:avLst>
              <a:gd name="adj" fmla="val 3158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319125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7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线下承载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80560" y="3502152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把心理服务延伸为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可感知的空间体验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92440" y="3063240"/>
            <a:ext cx="3611880" cy="1737360"/>
          </a:xfrm>
          <a:prstGeom prst="roundRect">
            <a:avLst>
              <a:gd name="adj" fmla="val 3158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319125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7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长期管理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75320" y="3502152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复访记录沉淀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个体恢复轨迹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2920" y="5029200"/>
            <a:ext cx="11201400" cy="1188720"/>
          </a:xfrm>
          <a:prstGeom prst="roundRect">
            <a:avLst>
              <a:gd name="adj" fmla="val 4615"/>
            </a:avLst>
          </a:prstGeom>
          <a:solidFill>
            <a:srgbClr val="E6EFEA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5120640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5D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二者是什么关系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541324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5D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心理学提供评估与干预框架；漂浮方舟提供可体验、可运营、可复制的恢复载体。二者互补，不互相替代。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8778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7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漂浮方舟 · 中友瑞水（北京）科技有限公司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332720" y="651052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7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EEE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A67C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工作机理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减负 — 降噪 — 重置 — 整合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2743200" cy="2606040"/>
          </a:xfrm>
          <a:prstGeom prst="roundRect">
            <a:avLst>
              <a:gd name="adj" fmla="val 2105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3898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7C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67512" y="178308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减负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67512" y="217627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浮力降低负荷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" y="2542032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高浮力盐水托住身体，降低姿势维持与骨骼肌负荷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1280160"/>
            <a:ext cx="2743200" cy="2606040"/>
          </a:xfrm>
          <a:prstGeom prst="roundRect">
            <a:avLst>
              <a:gd name="adj" fmla="val 2105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7872" y="13898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7C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47872" y="178308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降噪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47872" y="217627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减少感官输入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47872" y="2542032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低刺激环境减少视觉、听觉与触觉输入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1280160"/>
            <a:ext cx="2743200" cy="2606040"/>
          </a:xfrm>
          <a:prstGeom prst="roundRect">
            <a:avLst>
              <a:gd name="adj" fmla="val 2105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13898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7C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28232" y="178308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重置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28232" y="217627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状态切换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28232" y="2542032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为自主神经从持续应答转向休息恢复创造条件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0" y="1280160"/>
            <a:ext cx="2743200" cy="2606040"/>
          </a:xfrm>
          <a:prstGeom prst="roundRect">
            <a:avLst>
              <a:gd name="adj" fmla="val 2105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08592" y="13898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7C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308592" y="178308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整合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308592" y="217627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恢复整合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308592" y="2542032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研究提示脑电节律可能变化，仍需更多验证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4069080"/>
            <a:ext cx="11201400" cy="2148840"/>
          </a:xfrm>
          <a:prstGeom prst="roundRect">
            <a:avLst>
              <a:gd name="adj" fmla="val 2553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206240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“神经重置”如何理解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1520" y="4617720"/>
            <a:ext cx="10789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这是品牌对恢复过程的表达，不等同于医学意义上的神经系统重启。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真正可交付的是：低刺激环境 + 浮力支持 + 评估、入舱、调度、消杀与复访的标准流程。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8778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7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漂浮方舟 · 中友瑞水（北京）科技有限公司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332720" y="651052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7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EEE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A67C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可交付单元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它不是一次放松，而是一套可重复运行的服务流程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743200" cy="3108960"/>
          </a:xfrm>
          <a:prstGeom prst="roundRect">
            <a:avLst>
              <a:gd name="adj" fmla="val 2000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60020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67C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min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67512" y="23774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到店与筛查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67512" y="310896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禁忌与基础状态问询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383280" y="1417320"/>
            <a:ext cx="2743200" cy="3108960"/>
          </a:xfrm>
          <a:prstGeom prst="roundRect">
            <a:avLst>
              <a:gd name="adj" fmla="val 2000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7872" y="160020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67C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min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547872" y="23774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入舱准备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47872" y="310896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淋浴，进入独立私密舱室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63640" y="1417320"/>
            <a:ext cx="2743200" cy="3108960"/>
          </a:xfrm>
          <a:prstGeom prst="roundRect">
            <a:avLst>
              <a:gd name="adj" fmla="val 2000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160020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67C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60–90 min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28232" y="23774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沉浸漂浮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28232" y="310896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浮力支撑与低刺激环境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144000" y="1417320"/>
            <a:ext cx="2743200" cy="3108960"/>
          </a:xfrm>
          <a:prstGeom prst="roundRect">
            <a:avLst>
              <a:gd name="adj" fmla="val 2000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08592" y="160020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67C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min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308592" y="23774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出舱记录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308592" y="310896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主观状态记录与复访建议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02920" y="4754880"/>
            <a:ext cx="11201400" cy="1417320"/>
          </a:xfrm>
          <a:prstGeom prst="roundRect">
            <a:avLst>
              <a:gd name="adj" fmla="val 3871"/>
            </a:avLst>
          </a:prstGeom>
          <a:solidFill>
            <a:srgbClr val="1A2C36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754880"/>
            <a:ext cx="10789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EF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从准入、体验、净化到复访，每一环都有 SOP；这才具备跨地点复制的条件。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8778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7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漂浮方舟 · 中友瑞水（北京）科技有限公司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332720" y="651052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7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EEE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A67C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证据边界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先证明安全可行，再谈即时状态，最后才是研究前沿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201400" cy="1298448"/>
          </a:xfrm>
          <a:prstGeom prst="roundRect">
            <a:avLst>
              <a:gd name="adj" fmla="val 4225"/>
            </a:avLst>
          </a:prstGeom>
          <a:solidFill>
            <a:srgbClr val="E6EFE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6187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7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塔基 · 每次都能讲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536192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安全与可重复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840480" y="1335024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2024 年 PLOS ONE 可行性 RCT：75 人、约 6 次体验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依从性约 85%–89%，未报告与干预相关的严重不良事件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587752"/>
            <a:ext cx="11201400" cy="1298448"/>
          </a:xfrm>
          <a:prstGeom prst="roundRect">
            <a:avLst>
              <a:gd name="adj" fmla="val 4225"/>
            </a:avLst>
          </a:prstGeom>
          <a:solidFill>
            <a:srgbClr val="EEF3F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6791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7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塔身 · 谨慎表达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953512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即时状态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40480" y="2752344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单次体验后状态焦虑下降的初步研究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运动恢复以主观感受为主，生化指标并不一致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4005072"/>
            <a:ext cx="11201400" cy="1298448"/>
          </a:xfrm>
          <a:prstGeom prst="roundRect">
            <a:avLst>
              <a:gd name="adj" fmla="val 4225"/>
            </a:avLst>
          </a:prstGeom>
          <a:solidFill>
            <a:srgbClr val="F3E8D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09651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7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塔尖 · 只作学术讨论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370832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病种研究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40480" y="4169664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已有小样本探索，但证据仍有限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不转成治疗承诺，也不进入销售口径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5532120"/>
            <a:ext cx="11201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恢复类产品最大的风险不是说得少，而是把早期研究说成确定疗效。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8778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7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漂浮方舟 · 中友瑞水（北京）科技有限公司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332720" y="651052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7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15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EEE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A67C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长期边界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边界说清楚，项目才有长期价值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2743200" cy="3063240"/>
          </a:xfrm>
          <a:prstGeom prst="roundRect">
            <a:avLst>
              <a:gd name="adj" fmla="val 2000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508760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不替代专业服务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" y="265176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不替代心理咨询、精神科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以及临床治疗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83280" y="1325880"/>
            <a:ext cx="2743200" cy="3063240"/>
          </a:xfrm>
          <a:prstGeom prst="roundRect">
            <a:avLst>
              <a:gd name="adj" fmla="val 2000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1508760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不承诺病种疗效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47872" y="265176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不使用治愈、治疗率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等医疗化口径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63640" y="1325880"/>
            <a:ext cx="2743200" cy="3063240"/>
          </a:xfrm>
          <a:prstGeom prst="roundRect">
            <a:avLst>
              <a:gd name="adj" fmla="val 2000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1508760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不把研究当销售话术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28232" y="265176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先讲安全与可行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再讲即时状态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0" y="1325880"/>
            <a:ext cx="2743200" cy="3063240"/>
          </a:xfrm>
          <a:prstGeom prst="roundRect">
            <a:avLst>
              <a:gd name="adj" fmla="val 2000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08592" y="1508760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不写未核验规模数字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308592" y="265176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机构、专利、用户数据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尽调阶段逐项核验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" y="4617720"/>
            <a:ext cx="11201400" cy="1554480"/>
          </a:xfrm>
          <a:prstGeom prst="roundRect">
            <a:avLst>
              <a:gd name="adj" fmla="val 3529"/>
            </a:avLst>
          </a:prstGeom>
          <a:solidFill>
            <a:srgbClr val="F3E8D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617720"/>
            <a:ext cx="10789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5A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心理健康产业越敏感，越要先把边界做成制度。合规不是减速，而是规模化的前提。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8778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7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漂浮方舟 · 中友瑞水（北京）科技有限公司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332720" y="651052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7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15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EEE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A67C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产业化底座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能连续运行、能被巡检，才有资格成为产业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2743200" cy="777240"/>
          </a:xfrm>
          <a:prstGeom prst="roundRect">
            <a:avLst>
              <a:gd name="adj" fmla="val 7059"/>
            </a:avLst>
          </a:prstGeom>
          <a:solidFill>
            <a:srgbClr val="1A2C3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70432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EF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漂浮液回收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83280" y="1170432"/>
            <a:ext cx="2743200" cy="777240"/>
          </a:xfrm>
          <a:prstGeom prst="roundRect">
            <a:avLst>
              <a:gd name="adj" fmla="val 7059"/>
            </a:avLst>
          </a:prstGeom>
          <a:solidFill>
            <a:srgbClr val="1A2C36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170432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EF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精密过滤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63640" y="1170432"/>
            <a:ext cx="2743200" cy="777240"/>
          </a:xfrm>
          <a:prstGeom prst="roundRect">
            <a:avLst>
              <a:gd name="adj" fmla="val 7059"/>
            </a:avLst>
          </a:prstGeom>
          <a:solidFill>
            <a:srgbClr val="1A2C36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1170432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EF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物理消杀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0" y="1170432"/>
            <a:ext cx="2743200" cy="777240"/>
          </a:xfrm>
          <a:prstGeom prst="roundRect">
            <a:avLst>
              <a:gd name="adj" fmla="val 7059"/>
            </a:avLst>
          </a:prstGeom>
          <a:solidFill>
            <a:srgbClr val="1A2C36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0" y="1170432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EF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独立储存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2103120"/>
            <a:ext cx="2743200" cy="2606040"/>
          </a:xfrm>
          <a:prstGeom prst="roundRect">
            <a:avLst>
              <a:gd name="adj" fmla="val 2105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2240280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纯物理路线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" y="2788920"/>
            <a:ext cx="245059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臭氧、紫外与光触媒路线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不添加澄清剂与养护剂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参数以型号文件为准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83280" y="2103120"/>
            <a:ext cx="2743200" cy="2606040"/>
          </a:xfrm>
          <a:prstGeom prst="roundRect">
            <a:avLst>
              <a:gd name="adj" fmla="val 2105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9584" y="2240280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过滤与储液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29584" y="2788920"/>
            <a:ext cx="245059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精密过滤 + 复合滤材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净化后进入独立储液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不跨型号引用参数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2103120"/>
            <a:ext cx="2743200" cy="2606040"/>
          </a:xfrm>
          <a:prstGeom prst="roundRect">
            <a:avLst>
              <a:gd name="adj" fmla="val 2105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2240280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分区与空气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9944" y="2788920"/>
            <a:ext cx="245059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漂浮液、储液箱、舱体与空气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分区处理、分别巡检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144000" y="2103120"/>
            <a:ext cx="2743200" cy="2606040"/>
          </a:xfrm>
          <a:prstGeom prst="roundRect">
            <a:avLst>
              <a:gd name="adj" fmla="val 2105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90304" y="2240280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日常可查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90304" y="2788920"/>
            <a:ext cx="245059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回水、泵压、滤材、渗漏与水温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按周期检查并留记录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4846320"/>
            <a:ext cx="112014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7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工程纪律　心理健康服务进入线下设备，就必须像工业设备一样管理。具体工艺、时长与检测结果，以锁定型号的技术文件和最新检验报告为准。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8778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7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漂浮方舟 · 中友瑞水（北京）科技有限公司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332720" y="651052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7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15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EEE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A67C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产业化起点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我们已经具备从产品到交付的基本闭环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5532120" cy="1737360"/>
          </a:xfrm>
          <a:prstGeom prst="roundRect">
            <a:avLst>
              <a:gd name="adj" fmla="val 3158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271016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产品与平台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4088" y="164592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自研舱体、控制与净化系统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多产品线适配不同恢复场景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设备与服务共同交付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143000"/>
            <a:ext cx="5532120" cy="1737360"/>
          </a:xfrm>
          <a:prstGeom prst="roundRect">
            <a:avLst>
              <a:gd name="adj" fmla="val 3158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9088" y="1271016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资质与检测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19088" y="164592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质量体系与产品合规持续建设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相关认证以证书原件为准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检测参数按型号核验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017520"/>
            <a:ext cx="5532120" cy="1737360"/>
          </a:xfrm>
          <a:prstGeom prst="roundRect">
            <a:avLst>
              <a:gd name="adj" fmla="val 3158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3145536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科研与专家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088" y="352044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心理学与临床专家参与技术路线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持续跟踪国际研究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守住证据表达边界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3017520"/>
            <a:ext cx="5532120" cy="1737360"/>
          </a:xfrm>
          <a:prstGeom prst="roundRect">
            <a:avLst>
              <a:gd name="adj" fmla="val 3158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3145536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运营与人才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19088" y="352044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准入评估   ｜   体验 SOP   ｜   消杀巡检   ｜   复访记录   ｜   人才培训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5029200"/>
            <a:ext cx="11201400" cy="1188720"/>
          </a:xfrm>
          <a:prstGeom prst="roundRect">
            <a:avLst>
              <a:gd name="adj" fmla="val 4615"/>
            </a:avLst>
          </a:prstGeom>
          <a:solidFill>
            <a:srgbClr val="1A2C3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1206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0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机构、专利与用户规模本场不写死；投资尽调阶段按证书、合同与台账逐项核验。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55321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EF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被验证，才值得被信任。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8778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7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漂浮方舟 · 中友瑞水（北京）科技有限公司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332720" y="651052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7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15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EEE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A67C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产业前景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可持续，不靠一次销售，靠五层能力叠加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3611880" cy="3063240"/>
          </a:xfrm>
          <a:prstGeom prst="roundRect">
            <a:avLst>
              <a:gd name="adj" fmla="val 1791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7160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 · 产品与工程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324612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自研设备与关键系统持续迭代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工程化、质量与成本形成产品壁垒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设备销售只是产业起点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234440"/>
            <a:ext cx="3611880" cy="3063240"/>
          </a:xfrm>
          <a:prstGeom prst="roundRect">
            <a:avLst>
              <a:gd name="adj" fmla="val 1791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37160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 · 运营与标准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480560" y="2103120"/>
            <a:ext cx="324612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SOP、培训、认证、维护持续交付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把一次体验变成稳定服务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把人员经验沉淀为组织能力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92440" y="1234440"/>
            <a:ext cx="3611880" cy="3063240"/>
          </a:xfrm>
          <a:prstGeom prst="roundRect">
            <a:avLst>
              <a:gd name="adj" fmla="val 1791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137160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 · 数据、证据与网络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75320" y="2103120"/>
            <a:ext cx="324612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复访记录推动方案优化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证据积累提高行业可信度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多场景复制形成品牌与标准网络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4480560"/>
            <a:ext cx="11201400" cy="1691640"/>
          </a:xfrm>
          <a:prstGeom prst="roundRect">
            <a:avLst>
              <a:gd name="adj" fmla="val 3243"/>
            </a:avLst>
          </a:prstGeom>
          <a:solidFill>
            <a:srgbClr val="E8D7C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617720"/>
            <a:ext cx="10789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设备是起点，运营与证据让项目持续，标准与网络把单点做成产业。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扩展方向：心理恢复 / 睡眠管理 / 运动恢复 / 高压人群恢复——统一以合规证据边界为前提。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8778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7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漂浮方舟 · 中友瑞水（北京）科技有限公司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332720" y="651052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7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15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EEE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A67C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北化协同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北化接入的不是一个点位，而是一条产业能力链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2743200" cy="1965960"/>
          </a:xfrm>
          <a:prstGeom prst="roundRect">
            <a:avLst>
              <a:gd name="adj" fmla="val 2791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261872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资本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9224" y="1691640"/>
            <a:ext cx="24505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战略投资或分阶段增持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支持核心能力建设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143000"/>
            <a:ext cx="2743200" cy="1965960"/>
          </a:xfrm>
          <a:prstGeom prst="roundRect">
            <a:avLst>
              <a:gd name="adj" fmla="val 2791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9584" y="1261872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孵化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29584" y="1691640"/>
            <a:ext cx="24505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接入孵化—加速—产业化体系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补齐治理、人才与渠道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143000"/>
            <a:ext cx="2743200" cy="1965960"/>
          </a:xfrm>
          <a:prstGeom prst="roundRect">
            <a:avLst>
              <a:gd name="adj" fmla="val 2791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9944" y="1261872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制造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9944" y="1691640"/>
            <a:ext cx="24505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导入质量、供应链与材料工艺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推动工程化与成本优化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0" y="1143000"/>
            <a:ext cx="2743200" cy="1965960"/>
          </a:xfrm>
          <a:prstGeom prst="roundRect">
            <a:avLst>
              <a:gd name="adj" fmla="val 2791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90304" y="1261872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资源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290304" y="1691640"/>
            <a:ext cx="24505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链接园区、科技服务与产业伙伴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使用场景只是可选验证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246120"/>
            <a:ext cx="11201400" cy="1554480"/>
          </a:xfrm>
          <a:prstGeom prst="roundRect">
            <a:avLst>
              <a:gd name="adj" fmla="val 3529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364992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为什么和北化有关系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3703320"/>
            <a:ext cx="10789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北化公开战略以生物医药孵化与智能制造、特种化学品制造与服务为两大主业，并强调创新链、产业链、资本链、人才链协同。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漂浮方舟可作为心理健康与主动健康方向的产业项目，接入资本、孵化、制造与资源协同。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4956048"/>
            <a:ext cx="11201400" cy="1234440"/>
          </a:xfrm>
          <a:prstGeom prst="roundRect">
            <a:avLst>
              <a:gd name="adj" fmla="val 4444"/>
            </a:avLst>
          </a:prstGeom>
          <a:solidFill>
            <a:srgbClr val="1A2C3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956048"/>
            <a:ext cx="10789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EF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简单说：北化让项目更像产业；项目为北化大健康版图增加一个可扩展的心理健康入口。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8778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7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漂浮方舟 · 中友瑞水（北京）科技有限公司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332720" y="651052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7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15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EEE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A67C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进入方式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投资关系先定，验证动作按尽调需要安排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3611880" cy="2971800"/>
          </a:xfrm>
          <a:prstGeom prst="roundRect">
            <a:avLst>
              <a:gd name="adj" fmla="val 1846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3716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战略投资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04088" y="196596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以股权投资进入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支持核心技术、团队与渠道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先占心理健康产业入口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1234440"/>
            <a:ext cx="3611880" cy="2971800"/>
          </a:xfrm>
          <a:prstGeom prst="roundRect">
            <a:avLst>
              <a:gd name="adj" fmla="val 1846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98848" y="13716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联合产业平台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498848" y="196596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共同搭建产品、运营或制造平台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北化导入资源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我们负责产品与系统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92440" y="1234440"/>
            <a:ext cx="3611880" cy="2971800"/>
          </a:xfrm>
          <a:prstGeom prst="roundRect">
            <a:avLst>
              <a:gd name="adj" fmla="val 1846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93608" y="13716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分阶段推进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93608" y="196596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先完成技术、合规与商业尽调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再按里程碑投资或增持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4389120"/>
            <a:ext cx="11201400" cy="1783080"/>
          </a:xfrm>
          <a:prstGeom prst="roundRect">
            <a:avLst>
              <a:gd name="adj" fmla="val 3077"/>
            </a:avLst>
          </a:prstGeom>
          <a:solidFill>
            <a:srgbClr val="F3E8D8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526280"/>
            <a:ext cx="107899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5A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本项目不以园区试点为前提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A5A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验证可做，但只是尽调工具，不是合作终点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A5A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本场不谈估值和条款，只确认：这个方向是否值得一起做大。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8778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7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漂浮方舟 · 中友瑞水（北京）科技有限公司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332720" y="651052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7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15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EEE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A67C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交流收束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今天只确认三件事：方向、关系、下一步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5532120" cy="1207008"/>
          </a:xfrm>
          <a:prstGeom prst="roundRect">
            <a:avLst>
              <a:gd name="adj" fmla="val 4545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271016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产业判断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04088" y="160020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心理健康服务是长期需求，不是短期风口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143000"/>
            <a:ext cx="5532120" cy="1207008"/>
          </a:xfrm>
          <a:prstGeom prst="roundRect">
            <a:avLst>
              <a:gd name="adj" fmla="val 4545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9088" y="1271016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项目定位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19088" y="160020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提供可标准化的深度恢复能力，不做临床治疗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468880"/>
            <a:ext cx="5532120" cy="1207008"/>
          </a:xfrm>
          <a:prstGeom prst="roundRect">
            <a:avLst>
              <a:gd name="adj" fmla="val 4545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2596896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可持续性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4088" y="292608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产品、运营、证据、培训与网络共同形成壁垒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2468880"/>
            <a:ext cx="5532120" cy="1207008"/>
          </a:xfrm>
          <a:prstGeom prst="roundRect">
            <a:avLst>
              <a:gd name="adj" fmla="val 4545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2596896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北化价值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19088" y="292608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资本 + 孵化 + 制造 + 资源，把单点项目推向产业化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3794760"/>
            <a:ext cx="5532120" cy="1207008"/>
          </a:xfrm>
          <a:prstGeom prst="roundRect">
            <a:avLst>
              <a:gd name="adj" fmla="val 4545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" y="3922776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合作逻辑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4088" y="425196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投资优先，试点可选；按尽调与里程碑推进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17920" y="3794760"/>
            <a:ext cx="5532120" cy="1207008"/>
          </a:xfrm>
          <a:prstGeom prst="roundRect">
            <a:avLst>
              <a:gd name="adj" fmla="val 4545"/>
            </a:avLst>
          </a:prstGeom>
          <a:solidFill>
            <a:srgbClr val="FFFCF7"/>
          </a:solidFill>
          <a:ln w="12700">
            <a:solidFill>
              <a:srgbClr val="D8CF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9088" y="3922776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4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19088" y="425196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围绕产业定位、资源清单与尽调材料，安排专项交流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5212080"/>
            <a:ext cx="11201400" cy="960120"/>
          </a:xfrm>
          <a:prstGeom prst="roundRect">
            <a:avLst>
              <a:gd name="adj" fmla="val 5714"/>
            </a:avLst>
          </a:prstGeom>
          <a:solidFill>
            <a:srgbClr val="1A2C36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5212080"/>
            <a:ext cx="10789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EF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本场边界　不谈估值、不做疗效承诺；先判断是否同路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8778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7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漂浮方舟 · 中友瑞水（北京）科技有限公司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332720" y="651052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7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15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C3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258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D4B4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F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把心理健康中重要而薄弱的“恢复”，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4EF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做成可持续的产业能力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3657600"/>
            <a:ext cx="822960" cy="36576"/>
          </a:xfrm>
          <a:prstGeom prst="rect">
            <a:avLst/>
          </a:prstGeom>
          <a:solidFill>
            <a:srgbClr val="A67C5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886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0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中友瑞水（北京）科技有限公司 · 漂浮方舟 FLOATING ARK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297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9A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北京亦庄   ｜   400-8869-783   ｜   www.float-ark.com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62636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889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本材料用于初次交流；不构成疗效承诺或投资要约，数据口径以书面尽调材料为准。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漂浮方舟 FLOATING 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漂浮方舟 × 北京化工集团 · 心理健康产业投资交流</dc:title>
  <dc:subject>成品文字精排版，不删减</dc:subject>
  <dc:creator>中友瑞水（北京）科技有限公司</dc:creator>
  <cp:lastModifiedBy>中友瑞水（北京）科技有限公司</cp:lastModifiedBy>
  <cp:revision>1</cp:revision>
  <dcterms:created xsi:type="dcterms:W3CDTF">2026-08-23T08:00:06Z</dcterms:created>
  <dcterms:modified xsi:type="dcterms:W3CDTF">2026-08-23T08:00:06Z</dcterms:modified>
</cp:coreProperties>
</file>