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 ARK · 漂浮方舟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让身心快速恢复，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成为标准化、可复制的系统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与北京化工集团第一次交流 · 认识我们，看方向是否同路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29260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519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中友瑞水（北京）科技有限公司 · 北京亦庄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64008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本场只做介绍与方向对齐，不涉及估值与投资条款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我们做的是可复制的深度恢复系统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201400" cy="1234440"/>
          </a:xfrm>
          <a:prstGeom prst="roundRect">
            <a:avLst>
              <a:gd name="adj" fmla="val 7407"/>
            </a:avLst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53312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用高浮力盐水与低刺激环境，让神经系统从持续外部应答中撤离，进入更适合恢复的状态；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再把评估、入舱、感知、消杀、复访连成一套可交付、可复制的标准流程。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35509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27980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 SPA、不是理疗店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22376" y="3218688"/>
            <a:ext cx="31485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安静只是环境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交付来自系统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8160" y="2651760"/>
            <a:ext cx="35509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4547616" y="27980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不是单一靶点治疗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47616" y="3218688"/>
            <a:ext cx="31485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整体状态调节型干预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不承诺治好某个病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53400" y="2651760"/>
            <a:ext cx="35509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8372856" y="27980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是可复制的系统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72856" y="3218688"/>
            <a:ext cx="31485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 + SOP + 培训 + 认证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换个城市也能开出同样的店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526280"/>
            <a:ext cx="1120140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66344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公司在做四件事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029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漂浮舱系统供应   ｜   运营管理服务   ｜   资质认证服务   ｜   执证人才培训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54406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十年只做恢复这一件事。设备我们自己造，店怎么开我们也管。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为什么是现在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从以治病为中心，转向以健康为中心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546354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380744"/>
            <a:ext cx="50246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国家口径已经转了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1801368"/>
            <a:ext cx="50612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《全民健康素养提升三年行动方案（2024—2027）》：从治病中心转向健康中心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《基本医疗卫生与健康促进法》：公民是自己健康的第一责任人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0780" y="1234440"/>
            <a:ext cx="546354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6460236" y="1380744"/>
            <a:ext cx="50246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主动健康六支柱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60236" y="1801368"/>
            <a:ext cx="50612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膳食｜运动｜心理｜睡眠｜居住环境｜健康管理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我们不抢医院的治病那一柱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补的是心理恢复与睡眠管理的可体验入口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611880"/>
            <a:ext cx="11201400" cy="2240280"/>
          </a:xfrm>
          <a:prstGeom prst="roundRect">
            <a:avLst>
              <a:gd name="adj" fmla="val 4082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76732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缺口在哪：方向有了，入口没有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416052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主动健康目前仍偏研发与示范，公众实际参与率偏低</a:t>
            </a:r>
            <a:endParaRPr lang="en-US" sz="14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企业侧最常见的做法是讲座和年度体检——缺日常参与感，也留不下数据</a:t>
            </a:r>
            <a:endParaRPr lang="en-US" sz="14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「十五五」语境下，主动健康要从示范走向社会实践，需要能落地、能复制的载体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 P2 · 政策与人力资本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对一个产业集团，这件事的价值在「人」这一侧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55092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4264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减少决策失误成本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1847088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神经过载时判断力下降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一次有效恢复，胜过多开一天会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8160" y="1280160"/>
            <a:ext cx="355092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4547616" y="14264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降低核心人才流失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47616" y="1847088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替换成本通常是年薪 50%–150%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关怀要能被感受到，不只是文件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3400" y="1280160"/>
            <a:ext cx="355092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8372856" y="14264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提升单位时间产出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72856" y="1847088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睡眠不足会吃掉每天数小时有效工作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恢复是产能问题，不只是福利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355092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334670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减少隐性误工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2376" y="3767328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「在岗不在状态」可干预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比事后请假更省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28160" y="3200400"/>
            <a:ext cx="355092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4547616" y="334670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健康投入变资产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47616" y="3767328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HRV 等指标追踪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可写进 ESG 与雇主品牌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53400" y="3200400"/>
            <a:ext cx="355092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8372856" y="334670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园区与公共示范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72856" y="3767328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主动健康的可视化抓手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提升政企园区高端配套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4892040"/>
            <a:ext cx="11201400" cy="1051560"/>
          </a:xfrm>
          <a:prstGeom prst="roundRect">
            <a:avLst>
              <a:gd name="adj" fmla="val 8696"/>
            </a:avLst>
          </a:prstGeom>
          <a:solidFill>
            <a:srgbClr val="FFF7ED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边界先说清楚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53492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这不是国家基本公共卫生项目，也没有纳入医保。它是主动健康的一种服务形态，走市场化落地。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减负 — 降噪 — 重置 — 整合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1490472" y="1536192"/>
            <a:ext cx="713232" cy="71323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490472" y="153619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减负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27614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浮力去负荷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高浮力盐水托住身体，卸掉姿势维持与骨骼肌负担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5146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64992" y="132588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2544" y="1536192"/>
            <a:ext cx="713232" cy="71323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352544" y="153619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47872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降噪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47872" y="27614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感官降噪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93592" y="31089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封闭低刺激空间，削弱视觉、听觉、触觉输入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62472" y="25146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27064" y="132588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214616" y="1536192"/>
            <a:ext cx="713232" cy="71323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7214616" y="153619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9944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重置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9944" y="27614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自主神经切换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55664" y="31089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从交感应激模式转向副交感修复模式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24544" y="25146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089136" y="132588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76688" y="1536192"/>
            <a:ext cx="713232" cy="71323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10076688" y="153619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272016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272016" y="27614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脑状态整合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317736" y="31089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研究中观察到 theta / alpha 相关变化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4343400"/>
            <a:ext cx="11201400" cy="1554480"/>
          </a:xfrm>
          <a:prstGeom prst="roundRect">
            <a:avLst>
              <a:gd name="adj" fmla="val 5882"/>
            </a:avLst>
          </a:prstGeom>
          <a:solidFill>
            <a:srgbClr val="ECFDF5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49884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和传统漂浮舱的区别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" y="4828032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传统漂浮舱提供黑暗、静水与隔音，效果高度依赖使用者状态与门店人员经验。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我们把评估、入舱、感知、调度、消杀、复访连成标准流程，并建立专属档案——安静只是环境，交付来自系统。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一次体验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一个人走进来，会经历什么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120140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361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651760" y="15361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到店与评估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0" y="153619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健康问卷，测定 HRV 与应激状态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414016"/>
            <a:ext cx="1120140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700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651760" y="267004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入舱准备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0" y="267004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淋浴，进入独立私密舱室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547872"/>
            <a:ext cx="11201400" cy="1024128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0390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60–90 min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51760" y="38039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沉浸漂浮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0" y="380390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零重力支撑，频率与光声环境调度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681728"/>
            <a:ext cx="1120140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937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651760" y="4937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出舱复原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0" y="49377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再次检测，形成可对比的记录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5852160"/>
            <a:ext cx="11201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每一次都留下可比对的记录。这也是它能被管理、被复制的原因。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 P4 · 证据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我们怎么说证据：先安全可行，再状态，最后才是研究前沿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36245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塔基 · 每次都能讲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165506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安全与可重复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749040" y="1380744"/>
            <a:ext cx="7680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纯物理消杀路线，不加化学药剂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年 PLOS ONE 可行性 RCT：75 人、各约 6 次，依从约 85%–89%，无与干预相关的严重不良事件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715768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84378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塔身 · 对企业与产业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3232" y="31363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即时状态改善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49040" y="2862072"/>
            <a:ext cx="7680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年开放标签试验（不是 RCT）：单次约 1 小时后状态焦虑显著下降，作者本人要求更大对照试验复核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运动人群主观恢复有观察，生化指标仍有争议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197096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FFF7ED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43251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塔尖 · 只作学术讨论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3232" y="4617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特定病种研究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49040" y="4343400"/>
            <a:ext cx="7680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国际上确有针对特定病种的试验，但多为小样本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我们的表述只到「研究在追问」，不作治疗承诺，也不进销售口径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5806440"/>
            <a:ext cx="11201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我们宁愿把边界自己说出来。恢复类产品最大的风险不是说得少，是说过头。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我们不做什么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5463540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426464"/>
            <a:ext cx="50246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不治病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1847088"/>
            <a:ext cx="506120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不替代精神科与临床治疗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不做病种疗效承诺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0780" y="1280160"/>
            <a:ext cx="5463540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  <a:ln/>
        </p:spPr>
      </p:sp>
      <p:sp>
        <p:nvSpPr>
          <p:cNvPr id="9" name="Text 7"/>
          <p:cNvSpPr/>
          <p:nvPr/>
        </p:nvSpPr>
        <p:spPr>
          <a:xfrm>
            <a:off x="6460236" y="1426464"/>
            <a:ext cx="50246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不进医保口径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60236" y="1847088"/>
            <a:ext cx="506120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不是国家基本公卫项目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走市场化服务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246120"/>
            <a:ext cx="5463540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3392424"/>
            <a:ext cx="50246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不夸口径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" y="3813048"/>
            <a:ext cx="506120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未经核验的营销数字不上台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参数以铭牌、合同、检验报告为准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0780" y="3246120"/>
            <a:ext cx="5463540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  <a:ln/>
        </p:spPr>
      </p:sp>
      <p:sp>
        <p:nvSpPr>
          <p:cNvPr id="15" name="Text 13"/>
          <p:cNvSpPr/>
          <p:nvPr/>
        </p:nvSpPr>
        <p:spPr>
          <a:xfrm>
            <a:off x="6460236" y="3392424"/>
            <a:ext cx="50246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不混场景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60236" y="3813048"/>
            <a:ext cx="506120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医院共建与独立门店是两套口径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不互相借用话术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892040"/>
            <a:ext cx="11201400" cy="1097280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120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为什么第一次见面就讲这个：和国企合作，能不能长期做下去，取决于有没有人替对方守住风险边界。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 P1 · 工程与运维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它是能连续运行、能被巡检的设备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697480" cy="658368"/>
          </a:xfrm>
          <a:prstGeom prst="roundRect">
            <a:avLst>
              <a:gd name="adj" fmla="val 8333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漂浮液回收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3258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64992" y="1234440"/>
            <a:ext cx="2697480" cy="658368"/>
          </a:xfrm>
          <a:prstGeom prst="roundRect">
            <a:avLst>
              <a:gd name="adj" fmla="val 8333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3364992" y="123444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精密过滤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62472" y="13258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7064" y="1234440"/>
            <a:ext cx="2697480" cy="658368"/>
          </a:xfrm>
          <a:prstGeom prst="roundRect">
            <a:avLst>
              <a:gd name="adj" fmla="val 8333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227064" y="123444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物理消杀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24544" y="13258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089136" y="1234440"/>
            <a:ext cx="2697480" cy="658368"/>
          </a:xfrm>
          <a:prstGeom prst="roundRect">
            <a:avLst>
              <a:gd name="adj" fmla="val 8333"/>
            </a:avLst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9089136" y="123444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无菌储存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103120"/>
            <a:ext cx="259461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" y="224942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纯物理路线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2376" y="2670048"/>
            <a:ext cx="21922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臭氧、紫外、光触媒降解有机物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不添加澄清剂与养护剂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无添加，也要彻底洁净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71850" y="2103120"/>
            <a:ext cx="259461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3591306" y="224942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两段精密过滤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91306" y="2670048"/>
            <a:ext cx="21922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第一段最小孔径 0.1 μm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第二段碳及复合滤材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净化后进独立无菌储液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40780" y="2103120"/>
            <a:ext cx="259461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6460236" y="224942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分区与空气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60236" y="2670048"/>
            <a:ext cx="21922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漂浮液、储液箱、舱体、空气分区处理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舱体紫外与负离子空气消杀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109710" y="2103120"/>
            <a:ext cx="259461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9329166" y="224942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日常可查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29166" y="2670048"/>
            <a:ext cx="21922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观察回水速度、泵压、滤材与渗漏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滤棉与毛发过滤器按周期更换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水温按恒温标准执行并记录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4754880"/>
            <a:ext cx="1120140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工程纪律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52120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具体工艺、处理时长与检测结果，一律以对应型号技术文件与最新检验报告为准；不同型号的消杀程序不互换。报价与验收锁定机型后再引用参数。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 P3 · 我们已经在做的事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不是从零起步，但数字我们只按材料口径讲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5509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4264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产品与平台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1847088"/>
            <a:ext cx="314858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自研舱体、控制与净化三件套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冠军系列面向高消耗人群与专业运动恢复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五条产品线组成一套完整交付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8160" y="1280160"/>
            <a:ext cx="35509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4547616" y="14264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资质与检测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47616" y="1847088"/>
            <a:ext cx="314858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 体系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欧盟 CE、RoHS；美国 FCC、UL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漂浮液通过饮用水级别检测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二类医疗器械认证仍在推进中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3400" y="1280160"/>
            <a:ext cx="35509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8372856" y="14264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科研与专家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72856" y="1847088"/>
            <a:ext cx="314858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与院士、心理学与临床专家共建技术路线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参与行业标准制定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世界漂浮学会全球平台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840480"/>
            <a:ext cx="11201400" cy="137160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7764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规模（企业宣传材料口径，具体以交付资料与最新报告为准）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31596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三十余项国家专利   ｜   32 项质量安全标准检测   ｜   双高新 · 金种子 · 首批专精特新   ｜   服务机构逾八百家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473659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这些数字我们正在做统一核定，所以今天只作口径引用，不当承诺。需要精确数据我们会出具书面材料。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5440680"/>
            <a:ext cx="11201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被验证，才值得被信任。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 P6 · 赛道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心理健康：大健康里最重要，也最薄弱的一环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611880" cy="1536192"/>
          </a:xfrm>
          <a:prstGeom prst="roundRect">
            <a:avLst>
              <a:gd name="adj" fmla="val 4762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16736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5,900 亿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40080" y="188366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精神健康问题全社会年度总成本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北大精神卫生研究所 ·《柳叶刀》系列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25112" y="1188720"/>
            <a:ext cx="3611880" cy="1536192"/>
          </a:xfrm>
          <a:prstGeom prst="roundRect">
            <a:avLst>
              <a:gd name="adj" fmla="val 4762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4462272" y="1316736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15%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462272" y="188366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占当年全国卫生总支出比例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62272" y="23957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同一研究口径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47304" y="1188720"/>
            <a:ext cx="3611880" cy="1536192"/>
          </a:xfrm>
          <a:prstGeom prst="roundRect">
            <a:avLst>
              <a:gd name="adj" fmla="val 4762"/>
            </a:avLst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8284464" y="1316736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5%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8284464" y="188366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非药物神经干预覆盖率与主动健康渗透率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84464" y="23957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行业研究口径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971800"/>
            <a:ext cx="259461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" y="311810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药物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" y="3538728"/>
            <a:ext cx="219227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面向已确诊人群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覆盖不到亚健康与高压状态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371850" y="2971800"/>
            <a:ext cx="259461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3591306" y="311810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心理咨询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91306" y="3538728"/>
            <a:ext cx="219227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依赖咨询师供给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产能与价格都受限，难标准化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40780" y="2971800"/>
            <a:ext cx="259461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60236" y="311810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讲座与体检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60236" y="3538728"/>
            <a:ext cx="219227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缺日常参与感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留不下过程数据，做完就结束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109710" y="2971800"/>
            <a:ext cx="259461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9329166" y="311810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缺的正是这一类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29166" y="3538728"/>
            <a:ext cx="219227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非药物、可体验、可重复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有记录、能被管理、能复制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4846320"/>
            <a:ext cx="11201400" cy="1097280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8463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重要、代价高、供给空白、渗透率低——四个条件同时成立的赛道并不多。这一环的空白，就是我们所在的位置。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 P6 · 投资联动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为什么这一环能做长，也能往外扩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550920" cy="2514600"/>
          </a:xfrm>
          <a:prstGeom prst="roundRect">
            <a:avLst>
              <a:gd name="adj" fmla="val 2909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38074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能做长：不是一次性买卖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1801368"/>
            <a:ext cx="314858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疗程化运营带来复购、档案与顾问关系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壁垒分四层：技术、内容、运营、标准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体验、数据、关系三重锁定，迁移成本随时间上升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8160" y="1234440"/>
            <a:ext cx="3550920" cy="2514600"/>
          </a:xfrm>
          <a:prstGeom prst="roundRect">
            <a:avLst>
              <a:gd name="adj" fmla="val 2909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4547616" y="138074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能往外扩：纵横两向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47616" y="1801368"/>
            <a:ext cx="314858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纵向：从设备到运营、认证、培训、数据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横向：体育、文旅、康养、企业健康、公共示范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生态已在接线：国家训练基地、京东方、中旅、国药等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3400" y="1234440"/>
            <a:ext cx="3550920" cy="2514600"/>
          </a:xfrm>
          <a:prstGeom prst="roundRect">
            <a:avLst>
              <a:gd name="adj" fmla="val 2909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8372856" y="138074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和集团的产业接口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72856" y="1801368"/>
            <a:ext cx="314858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漂浮液与母液本质是化工配方，规模化后有原料接口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消杀与过滤材料、舱体制造对得上制造与质量体系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集团信用有助于打开国企、园区与公共机构渠道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950208"/>
            <a:ext cx="11201400" cy="1234440"/>
          </a:xfrm>
          <a:prstGeom prst="roundRect">
            <a:avLst>
              <a:gd name="adj" fmla="val 7407"/>
            </a:avLst>
          </a:prstGeom>
          <a:solidFill>
            <a:srgbClr val="ECFDF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9651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放进大健康布局里，它是一块能自己长、也能带动别的板块的拼图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4622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心理健康是大健康组合里目前最空的一格。它可以单独成为一条业务线，也能与既有健康、文旅、制造资产互补，且不依赖单一客户或单一区域。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5321808"/>
            <a:ext cx="11201400" cy="64008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321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本场不谈估值与条款。投入产出模型、价格带与分成比例属内部规划口径，尚未锁定；进入尽调阶段我们逐项出具书面材料。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和北京化工集团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我们看得见的三个接口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550920" cy="3063240"/>
          </a:xfrm>
          <a:prstGeom prst="roundRect">
            <a:avLst>
              <a:gd name="adj" fmla="val 2388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4264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 · 内部：员工与骨干精力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1847088"/>
            <a:ext cx="314858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高压岗位、连续作业、值班倒班人群的恢复入口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高管体验日、团队恢复课程、人才健康服务包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可复访、可记录，不是一次性讲座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8160" y="1280160"/>
            <a:ext cx="3550920" cy="3063240"/>
          </a:xfrm>
          <a:prstGeom prst="roundRect">
            <a:avLst>
              <a:gd name="adj" fmla="val 2388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4547616" y="14264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 · 园区：可体验的示范配套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47616" y="1847088"/>
            <a:ext cx="314858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主动健康的可视化抓手，能对外讲、能带人看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提升政企园区的高端配套能力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可与文旅、康养场景衔接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3400" y="1280160"/>
            <a:ext cx="3550920" cy="3063240"/>
          </a:xfrm>
          <a:prstGeom prst="roundRect">
            <a:avLst>
              <a:gd name="adj" fmla="val 2388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8372856" y="14264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 · 产业：向外的健康板块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72856" y="1847088"/>
            <a:ext cx="314858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把设备、SOP、认证、培训作为一条可复制的业务线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化工集团熟悉的正是标准化与过程管理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先做能力验证，再谈规模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617720"/>
            <a:ext cx="11201400" cy="1325880"/>
          </a:xfrm>
          <a:prstGeom prst="roundRect">
            <a:avLst>
              <a:gd name="adj" fmla="val 6897"/>
            </a:avLst>
          </a:prstGeom>
          <a:solidFill>
            <a:srgbClr val="ECFDF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77316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哪一个更靠近你们今年的议题，我们就从那一个谈起。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52120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今天不需要选。我们更想听你们内部现在最头疼的是哪一块。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 P5 · 如果要往下走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一个点位、一个季度、可退出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59461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先选一个点位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1847088"/>
            <a:ext cx="219227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总部或园区一个空间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舱起步，不铺开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71850" y="1280160"/>
            <a:ext cx="259461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359130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跑一个季度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91306" y="1847088"/>
            <a:ext cx="219227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固定人群、固定节奏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留下可对比的记录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0780" y="1280160"/>
            <a:ext cx="259461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6023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看三件事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60236" y="1847088"/>
            <a:ext cx="219227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用不用得起来（使用率）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反馈是否稳定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运维是否可交给自己人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09710" y="1280160"/>
            <a:ext cx="259461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932916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不合适就停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29166" y="1847088"/>
            <a:ext cx="219227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季度结束可退出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不绑长约、不压库存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291840"/>
            <a:ext cx="11201400" cy="187452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564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合作形式可以很轻，也可以很重——由你们的节奏决定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3822192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设备租赁：月付使用，压低初始投入</a:t>
            </a:r>
            <a:endParaRPr lang="en-US" sz="13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样板共建：1–2 舱先行，验证后再扩容</a:t>
            </a:r>
            <a:endParaRPr lang="en-US" sz="13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联合运营：你们出空间与客流，我们出设备与 SOP，按收益分成</a:t>
            </a:r>
            <a:endParaRPr lang="en-US" sz="13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 / 园区项目制：作为服务包采购，不承担门店经营风险</a:t>
            </a:r>
            <a:endParaRPr lang="en-US" sz="13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一次性采购：适合已经想自己长期运营的场景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5349240"/>
            <a:ext cx="11201400" cy="658368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349240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今天不报价、不签约。这一页只是让你们知道：入口可以做得很小，退出也不难。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最省事的方式是先来一趟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55092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47218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来看一次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1892808"/>
            <a:ext cx="31485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实地看舱体、净化与运维流程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半天即可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看完自然知道是不是一回事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8160" y="1325880"/>
            <a:ext cx="355092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4547616" y="147218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试一次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47616" y="1892808"/>
            <a:ext cx="31485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安排 2–3 位同事亲身体验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带走一份自己的记录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比任何一页 PPT 都直观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3400" y="1325880"/>
            <a:ext cx="355092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8372856" y="147218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再谈往哪走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72856" y="1892808"/>
            <a:ext cx="31485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体验之后，讨论从哪个接口切入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需要什么材料我们准备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023360"/>
            <a:ext cx="11201400" cy="192024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245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今天只请你们同意一件小事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6177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定一个时间，来看一次，试一次。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1520" y="52578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合作可以很大，入口很轻。至于投资，等我们双方都确认是同一件事再谈。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一页回顾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今天讲了什么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201400" cy="621792"/>
          </a:xfrm>
          <a:prstGeom prst="roundRect">
            <a:avLst>
              <a:gd name="adj" fmla="val 7353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3444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我们是谁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234440"/>
            <a:ext cx="8686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可复制的深度恢复系统：设备 + SOP + 认证 + 培训，不是 SPA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1947672"/>
            <a:ext cx="112014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4767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1947672"/>
            <a:ext cx="8686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从治病中心到健康中心，我们补心理恢复与睡眠管理的可体验入口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2660904"/>
            <a:ext cx="11201400" cy="621792"/>
          </a:xfrm>
          <a:prstGeom prst="roundRect">
            <a:avLst>
              <a:gd name="adj" fmla="val 7353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6090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2660904"/>
            <a:ext cx="8686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减负 — 降噪 — 重置 — 整合，整体状态调节，不做单一靶点治疗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374136"/>
            <a:ext cx="112014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74136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3374136"/>
            <a:ext cx="8686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先讲安全与可重复，再讲即时状态；病种研究只作学术讨论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4087368"/>
            <a:ext cx="11201400" cy="621792"/>
          </a:xfrm>
          <a:prstGeom prst="roundRect">
            <a:avLst>
              <a:gd name="adj" fmla="val 7353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08736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4087368"/>
            <a:ext cx="8686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纯物理消杀四步闭环，参数以型号文件与检验报告为准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4800600"/>
            <a:ext cx="112014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80060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0" y="4800600"/>
            <a:ext cx="8686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员工与骨干精力 / 园区示范配套 / 对外健康业务线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5513832"/>
            <a:ext cx="11201400" cy="621792"/>
          </a:xfrm>
          <a:prstGeom prst="roundRect">
            <a:avLst>
              <a:gd name="adj" fmla="val 7353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51383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0" y="5513832"/>
            <a:ext cx="8686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来看一次、试一次；入口可小、可退出，本场不谈钱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让身心快速恢复，成为标准化、可复制的系统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3291840"/>
            <a:ext cx="29260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5204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中友瑞水（北京）科技有限公司 · 漂浮方舟 FLOATING ARK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北京亦庄   ｜   400-8869-783   ｜   www.float-ark.com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本材料用于初次交流，数据口径以书面交付资料为准；不构成疗效承诺或投资要约。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漂浮方舟 FLOATING 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漂浮方舟 × 北京化工集团 · 初次交流</dc:title>
  <dc:subject>首次了解与方向对齐</dc:subject>
  <dc:creator>中友瑞水（北京）科技有限公司</dc:creator>
  <cp:lastModifiedBy>中友瑞水（北京）科技有限公司</cp:lastModifiedBy>
  <cp:revision>1</cp:revision>
  <dcterms:created xsi:type="dcterms:W3CDTF">2026-08-23T03:59:08Z</dcterms:created>
  <dcterms:modified xsi:type="dcterms:W3CDTF">2026-08-23T03:59:08Z</dcterms:modified>
</cp:coreProperties>
</file>