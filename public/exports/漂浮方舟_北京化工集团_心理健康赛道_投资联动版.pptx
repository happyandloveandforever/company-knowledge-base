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1630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FLOATING ARK · 漂浮方舟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心理健康：</a:t>
            </a:r>
            <a:endParaRPr lang="en-US" sz="3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大健康里最重要，也最薄弱的一环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与北京化工集团第一次交流 · 这一环的产业前景，与可联动、可扩展的位置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3977640"/>
            <a:ext cx="29260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624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中友瑞水（北京）科技有限公司 · 北京亦庄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64008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本材料用于首次交流，测算与规划数字均标注口径；不构成疗效承诺或投资要约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先说结论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我们想谈的，是心理健康这一环的产业机会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这一环重要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08960" y="12801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精神健康的社会代价已是千亿量级，且仍在上升；心理与睡眠被明确写进主动健康议程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这一环薄弱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08960" y="224028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供给几乎只有药物、谈话与讲座；非药物、可体验、可复制的物理入口近乎空白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我们的位置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320040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在这一环做非药物主动干预系统：设备 + 标准流程 + 认证 + 人才，不是单店生意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406908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605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为什么可持续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08960" y="41605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疗程化运营而非一次性买卖；专利、认证、标准与数据构成可累积的壁垒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02920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为什么值得联动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08960" y="51206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它可以作为大健康投资组合里一个能横向扩展、纵向做深的独立品类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重要性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心理这一环的代价，已经不是「软性福利」问题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99032"/>
            <a:ext cx="3276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5,900 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84248"/>
            <a:ext cx="3276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精神健康问题全社会年度总成本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78024"/>
            <a:ext cx="3276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北大精神卫生研究所 ·《柳叶刀》系列研究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8160" y="123444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465320" y="1399032"/>
            <a:ext cx="3276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15%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65320" y="1984248"/>
            <a:ext cx="3276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占当年全国卫生总支出比例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65320" y="2478024"/>
            <a:ext cx="3276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同一研究口径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53400" y="123444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90560" y="1399032"/>
            <a:ext cx="3276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倍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90560" y="1984248"/>
            <a:ext cx="3276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 → 2013 八年增长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90560" y="2478024"/>
            <a:ext cx="3276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1,470 亿 → 5,900 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063240"/>
            <a:ext cx="11201400" cy="146304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1868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在产业侧，这些代价大多不进账本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584448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制造业职业倦怠检出率约 60%；管理岗职业紧张风险显著更高（中国疾控 2024）</a:t>
            </a:r>
            <a:endParaRPr lang="en-US" sz="13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多数人选择「带病上班」，损失以效率下降的形式内化，不显现为医疗支出</a:t>
            </a:r>
            <a:endParaRPr lang="en-US" sz="13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行业内粗略估算：倦怠造成的隐性产出损失约 5 万亿元／年（估算口径，非统计数据）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470916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46320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政策已经把这一环点出来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51755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主动健康六支柱为膳食、运动、心理、睡眠、居住环境、健康管理。心理与睡眠是其中两柱，也是目前可体验供给最少的两柱。国家口径已从以治病为中心转向以健康为中心。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薄弱环节 = 机会所在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现有供给解决不了「日常恢复」这件事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9461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药物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219227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面向已确诊人群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覆盖不到亚健康与高压状态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多数人不愿也不需要走到这一步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1850" y="1280160"/>
            <a:ext cx="259461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59130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心理咨询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91306" y="1847088"/>
            <a:ext cx="219227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依赖咨询师供给与个人意愿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起效慢、价格与产能都受限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很难标准化复制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0780" y="1280160"/>
            <a:ext cx="259461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6023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讲座与体检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0236" y="1847088"/>
            <a:ext cx="219227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企业最常见的做法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缺日常参与感，留不下过程数据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做完就结束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09710" y="1280160"/>
            <a:ext cx="259461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932916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缺的是这一类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9166" y="1847088"/>
            <a:ext cx="219227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非药物、可体验、可重复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有过程记录、能被管理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能像门店一样复制开出去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FF7E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05072"/>
            <a:ext cx="3276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0080" y="4590288"/>
            <a:ext cx="3276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社区卫生体系中非药物神经干预覆盖率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084064"/>
            <a:ext cx="3276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行业研究口径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8160" y="384048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FF7ED"/>
          </a:solidFill>
          <a:ln/>
        </p:spPr>
      </p:sp>
      <p:sp>
        <p:nvSpPr>
          <p:cNvPr id="22" name="Text 20"/>
          <p:cNvSpPr/>
          <p:nvPr/>
        </p:nvSpPr>
        <p:spPr>
          <a:xfrm>
            <a:off x="4465320" y="4005072"/>
            <a:ext cx="3276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465320" y="4590288"/>
            <a:ext cx="3276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主动健康万亿市场当前渗透率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65320" y="5084064"/>
            <a:ext cx="3276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行业研究口径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53400" y="3840480"/>
            <a:ext cx="3550920" cy="1600200"/>
          </a:xfrm>
          <a:prstGeom prst="roundRect">
            <a:avLst>
              <a:gd name="adj" fmla="val 4571"/>
            </a:avLst>
          </a:prstGeom>
          <a:solidFill>
            <a:srgbClr val="FFF7ED"/>
          </a:solidFill>
          <a:ln/>
        </p:spPr>
      </p:sp>
      <p:sp>
        <p:nvSpPr>
          <p:cNvPr id="26" name="Text 24"/>
          <p:cNvSpPr/>
          <p:nvPr/>
        </p:nvSpPr>
        <p:spPr>
          <a:xfrm>
            <a:off x="8290560" y="4005072"/>
            <a:ext cx="3276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万亿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8290560" y="4590288"/>
            <a:ext cx="3276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 年健康产业预测规模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90560" y="5084064"/>
            <a:ext cx="3276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第三方预测，非承诺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5669280"/>
            <a:ext cx="11201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重要、代价高、供给空白、渗透率低——这四个条件同时成立的赛道并不多。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我们的位置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在心理这一环，做非药物的主动干预系统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201400" cy="1097280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5331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用高浮力盐水与低刺激环境，让神经系统从持续外部应答中撤离；再把评估、入舱、感知调度、消杀、复访连成一套标准流程。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4688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5786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减负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29626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浮力去负荷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00400" y="272491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64992" y="24688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25786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降噪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364992" y="29626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感官输入下降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62472" y="272491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27064" y="24688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227064" y="25786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重置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27064" y="29626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自主神经切换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924544" y="2724912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89136" y="246888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9089136" y="257860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089136" y="29626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脑状态整合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546354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375818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心理学不是我们贴上去的标签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2376" y="4178808"/>
            <a:ext cx="506120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胡佩诚教授：北大医学心理学系博导，国务院特殊津贴专家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郝树伟副教授：北大医学院临床心理学系，催眠与漂浮结合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杜文东教授：南京中医药大学心理学院前院长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40780" y="3611880"/>
            <a:ext cx="546354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60236" y="3758184"/>
            <a:ext cx="502462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定位写得很清楚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60236" y="4178808"/>
            <a:ext cx="506120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心理健康与精神卫生服务的主动干预系统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整体状态调节型干预，不是单一靶点治疗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不替代临床诊疗，不做病种承诺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可扩展性 · 之一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我们卖的不是一台设备，是一套能复制的经营系统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9461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设备供应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219227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自研舱体、控制与净化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纯物理消杀，不加化学药剂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参数以型号文件为准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1850" y="1280160"/>
            <a:ext cx="259461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59130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运营管理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91306" y="1847088"/>
            <a:ext cx="219227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从选址到日常运维的标准流程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疗程设计与复访机制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换个城市开出同样的店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0780" y="1280160"/>
            <a:ext cx="259461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6023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资质认证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0236" y="1847088"/>
            <a:ext cx="219227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9001、CE、RoHS、FCC、UL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漂浮液饮用水级检测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二类医疗器械认证推进中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09710" y="1280160"/>
            <a:ext cx="259461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932916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人才培训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9166" y="1847088"/>
            <a:ext cx="219227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执证人才培养体系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解决行业最缺的操作端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培训本身也是收入与门槛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11201400" cy="2194560"/>
          </a:xfrm>
          <a:prstGeom prst="roundRect">
            <a:avLst>
              <a:gd name="adj" fmla="val 416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77056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能力被拆成模块，所以换场景不用重新摸索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硬件输出库：设备输出参数沉淀为可选择、可组合的模块</a:t>
            </a:r>
            <a:endParaRPr lang="en-US" sz="13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传感采集库：持续采集心率、压力、睡眠等体征变化</a:t>
            </a:r>
            <a:endParaRPr lang="en-US" sz="13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模型匹配库：把用户状态匹配到声、光、频率、水体与温控方案</a:t>
            </a:r>
            <a:endParaRPr lang="en-US" sz="13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指令与验证库：效果回流形成下一次可调用的经验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46811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可调用的模块，才是真正的积累。这也是能从单点走向网络的前提。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可持续性 · 之一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不是一次性买卖，收入有多条腿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9461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设备与租赁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219227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一次性采购，或按月租赁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降低客户初始门槛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我们获得持续现金流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1850" y="1280160"/>
            <a:ext cx="259461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59130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运营与服务包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91306" y="1847088"/>
            <a:ext cx="219227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联合运营按收益分成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企业与园区项目制服务包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疗程制而非单次消费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0780" y="1280160"/>
            <a:ext cx="259461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6023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认证与培训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0236" y="1847088"/>
            <a:ext cx="219227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资质认证服务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执证人才培训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同时构成行业门槛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09710" y="1280160"/>
            <a:ext cx="2594610" cy="2148840"/>
          </a:xfrm>
          <a:prstGeom prst="roundRect">
            <a:avLst>
              <a:gd name="adj" fmla="val 3404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932916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数据与协议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9166" y="1847088"/>
            <a:ext cx="219227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过程数据形成资产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算法与协议可订阅授权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长期看这是最值钱的一层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03320"/>
            <a:ext cx="11201400" cy="1325880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5876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关键差别：疗程化运营比单次体验更能沉淀客户价值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22452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单次漂浮只是触感体验，恢复靠疗程建立。疗程带来复购、档案与顾问关系，客户迁移成本随时间上升——这决定了它是一门可以做长的生意，而不是一次设备交易。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5193792"/>
            <a:ext cx="11201400" cy="749808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193792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价格带、分成比例与单店模型均为内部规划口径，尚未最终锁定；本场不展开财务测算，需要时另出书面材料。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可持续性 · 之二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壁垒不在一台机器上，在标准和积累上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9461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219227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专有设备与配方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高精度控温与声学环境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三十余项国家专利（材料口径）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1850" y="1280160"/>
            <a:ext cx="259461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59130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内容与知识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91306" y="1847088"/>
            <a:ext cx="219227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机理与疗程设计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医学化表述与报告体系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与院士、心理学专家共建路线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40780" y="1280160"/>
            <a:ext cx="259461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6023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0236" y="1847088"/>
            <a:ext cx="219227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疗程化 SOP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培训与认证形成操作端门槛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服务质量可被复制与检查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09710" y="1280160"/>
            <a:ext cx="259461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9329166" y="1426464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标准与生态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9166" y="1847088"/>
            <a:ext cx="219227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深度参与行业标准制定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世界漂浮学会 2026 年法国注册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从设备制造商走向标准制定者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11201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95344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三重锁定：为什么客户走不掉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261104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体验锁定（温控精度、配方与环境难以简单模仿）｜数据锁定（HRV、睡眠与疗程档案连续积累）｜关系锁定（顾问与复访机制，成为长期健康管理伙伴）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2920" y="534924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这一环最终会有标准。我们的目标是参与定标准的人，而不是被标准筛掉的人。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可扩展性 · 之二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这一环不用我们一家做完，生态已经在搭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54635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80160"/>
            <a:ext cx="82296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4264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秦皇岛国家综合训练基地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1828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体能修复与国家级运动康复实证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1280160"/>
            <a:ext cx="54635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6240780" y="1280160"/>
            <a:ext cx="82296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96812" y="14264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俞梦孙人民健康系统工程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6812" y="1828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环境干预模块与主动预防研究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2450592"/>
            <a:ext cx="54635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2450592"/>
            <a:ext cx="82296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25968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京东方健康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" y="29992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生理数据物联网闭环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40780" y="2450592"/>
            <a:ext cx="54635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240780" y="2450592"/>
            <a:ext cx="82296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6812" y="259689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中国旅游集团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6812" y="299923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文旅康养疗愈空间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621024"/>
            <a:ext cx="54635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3621024"/>
            <a:ext cx="82296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" y="37673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国药集团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8952" y="4169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临床级供应链与漂浮液安全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40780" y="3621024"/>
            <a:ext cx="5463540" cy="105156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6240780" y="3621024"/>
            <a:ext cx="82296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6812" y="376732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中国数字文化集团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6812" y="416966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光影声场沉浸式疗愈内容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02920" y="4892040"/>
            <a:ext cx="11201400" cy="1051560"/>
          </a:xfrm>
          <a:prstGeom prst="roundRect">
            <a:avLst>
              <a:gd name="adj" fmla="val 8696"/>
            </a:avLst>
          </a:prstGeom>
          <a:solidFill>
            <a:srgbClr val="ECFDF5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892040"/>
            <a:ext cx="10789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已有合作说明一件事：这一环可以横向接进体育、文旅、医药、数据与内容——它不是一个孤立品类，而是一个能不断接线的接口。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和北京化工集团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如果放进你们的大健康布局，联动点大致是这些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868680"/>
          </a:xfrm>
          <a:prstGeom prst="roundRect">
            <a:avLst>
              <a:gd name="adj" fmla="val 10526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70432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先说清主次：我们今天不是来找一个使用场地，也不是来卖一批设备。我们谈的是这一环值不值得进，以及进来以后能往哪里扩。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3550920" cy="2606040"/>
          </a:xfrm>
          <a:prstGeom prst="roundRect">
            <a:avLst>
              <a:gd name="adj" fmla="val 2807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359152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投资联动：一个可独立成长的品类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22376" y="2779776"/>
            <a:ext cx="314858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心理健康是大健康组合里目前最空的一格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可以单独成为一条业务线，也能与既有健康资产互补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不依赖单一客户或单一区域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8160" y="2212848"/>
            <a:ext cx="3550920" cy="2606040"/>
          </a:xfrm>
          <a:prstGeom prst="roundRect">
            <a:avLst>
              <a:gd name="adj" fmla="val 2807"/>
            </a:avLst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4547616" y="2359152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产业接口（简单提）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7616" y="2779776"/>
            <a:ext cx="314858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漂浮液与母液本质是化工配方，规模化后有原料与配套液接口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消杀与过滤材料、舱体制造，与集团制造与质量体系能对接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集团信用有助于打开国企、园区与公共机构渠道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3400" y="2212848"/>
            <a:ext cx="3550920" cy="2606040"/>
          </a:xfrm>
          <a:prstGeom prst="roundRect">
            <a:avLst>
              <a:gd name="adj" fmla="val 2807"/>
            </a:avLst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8372856" y="2359152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扩展方向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2856" y="2779776"/>
            <a:ext cx="3148584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纵向：从设备到运营、认证、培训、数据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横向：体育、文旅、康养、企业健康、公共示范</a:t>
            </a:r>
            <a:endParaRPr lang="en-US" sz="12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长期：参与标准与认证体系，占据定义权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983480"/>
            <a:ext cx="11201400" cy="960120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983480"/>
            <a:ext cx="10789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我们希望被看成大健康投资里的一块拼图：自己能长，也能带动别的板块一起长。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我们自己的三步走（内部规划口径）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280160"/>
            <a:ext cx="361188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8016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第一步 · 验证与标准化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样板站跑通标准流程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启动规范化临床与数据队列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把「非药物恢复」做成一个被认识的品类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2801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325112" y="1280160"/>
            <a:ext cx="361188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325112" y="128016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第二步 · B 端规模输出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53712" y="201168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从卖设备转向卖解决方案包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渗透医疗、企业健康与康养渠道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顾问服务 + 订阅 + 授权并行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47304" y="12801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47304" y="1280160"/>
            <a:ext cx="3611880" cy="5669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147304" y="128016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第三步 · 平台化与标准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75904" y="2011680"/>
            <a:ext cx="3200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以效果数据与客户深度绑定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年度包干替代单次服务</a:t>
            </a:r>
            <a:endParaRPr lang="en-US" sz="125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推进注册申报与标准参与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754880"/>
            <a:ext cx="11201400" cy="1188720"/>
          </a:xfrm>
          <a:prstGeom prst="roundRect">
            <a:avLst>
              <a:gd name="adj" fmla="val 7692"/>
            </a:avLst>
          </a:prstGeom>
          <a:solidFill>
            <a:srgbClr val="FFF7E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82896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关于时间表与投入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51937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三步的年份、投入与产出模型属内部规划，尚未对外锁定。若你们决定深入，我们再按尽调要求提供逐项书面材料，而不是在第一次见面给一个漂亮但不牢的数字。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证据与边界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我们怎么说效果，以及我们不说什么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20140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441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能讲的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161848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安全与可重复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1362456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纯物理消杀路线，不加化学药剂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年 PLOS ONE 可行性研究：75 人各约 6 次，依从约 85%–89%，无与干预相关的严重不良事件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532888"/>
            <a:ext cx="1120140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64261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谨慎讲的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291693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即时状态改善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660904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年开放标签试验（不是随机对照）：单次约 1 小时后状态焦虑显著下降；作者本人要求更大对照试验复核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831336"/>
            <a:ext cx="11201400" cy="1188720"/>
          </a:xfrm>
          <a:prstGeom prst="roundRect">
            <a:avLst>
              <a:gd name="adj" fmla="val 6154"/>
            </a:avLst>
          </a:prstGeom>
          <a:solidFill>
            <a:srgbClr val="FFF7ED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9410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不讲的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42153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特定病种疗效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3959352"/>
            <a:ext cx="7863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国际上确有病种试验，多为小样本；我们只说「研究在追问」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不作治疗承诺，不进销售口径，不替代临床诊疗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5212080"/>
            <a:ext cx="112014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1208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对投资方我们更愿意先说边界：这个赛道最大的风险不是说得少，是说过头。守住边界，这门生意才能做长。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底数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不是从零起步，但数字只按材料口径讲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十年只做一件事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47088"/>
            <a:ext cx="31485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设备、液体、消杀、运营已成闭环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四大业务：供应、运营、认证、培训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五条产品线组成完整交付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28016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资质与检测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47088"/>
            <a:ext cx="31485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 体系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欧盟 CE、RoHS；美国 FCC、UL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漂浮液饮用水级别检测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二类医疗器械认证推进中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280160"/>
            <a:ext cx="355092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42646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资质荣誉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47088"/>
            <a:ext cx="31485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国家及中关村双高新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中关村金种子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首批国家专精特新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参与行业标准制定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11201400" cy="1325880"/>
          </a:xfrm>
          <a:prstGeom prst="roundRect">
            <a:avLst>
              <a:gd name="adj" fmla="val 6897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3192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规模（企业宣传材料口径，正在统一核定，以书面交付资料为准）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261104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三十余项国家专利   ｜   32 项质量安全标准检测   ｜   服务机构逾八百家   ｜   国家社科基金重大项目参与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6817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需要精确数据与凭证，我们按尽调清单逐项出具，不在演示材料里写死。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5349240"/>
            <a:ext cx="11201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被验证，才值得被信任。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7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如果你们觉得这一环值得看，接下来可以这样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147218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 · 实地看一次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2376" y="1892808"/>
            <a:ext cx="3148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看设备、净化与运营流程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亲身体验一次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半天时间，判断是不是一回事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816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/>
        </p:spPr>
      </p:sp>
      <p:sp>
        <p:nvSpPr>
          <p:cNvPr id="9" name="Text 7"/>
          <p:cNvSpPr/>
          <p:nvPr/>
        </p:nvSpPr>
        <p:spPr>
          <a:xfrm>
            <a:off x="4547616" y="147218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 · 我们出材料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7616" y="1892808"/>
            <a:ext cx="3148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按你们的尽调清单逐项准备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专利、检测、认证凭证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客户与运营数据口径核定后提供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53400" y="1325880"/>
            <a:ext cx="3550920" cy="237744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/>
        </p:spPr>
      </p:sp>
      <p:sp>
        <p:nvSpPr>
          <p:cNvPr id="12" name="Text 10"/>
          <p:cNvSpPr/>
          <p:nvPr/>
        </p:nvSpPr>
        <p:spPr>
          <a:xfrm>
            <a:off x="8372856" y="1472184"/>
            <a:ext cx="311200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 · 再谈怎么进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72856" y="1892808"/>
            <a:ext cx="314858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财务与合作结构那时候再谈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可以是投资，也可以是产业协同</a:t>
            </a:r>
            <a:endParaRPr lang="en-US" sz="125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由你们的节奏决定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023360"/>
            <a:ext cx="11201400" cy="192024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2452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今天只想留下一个判断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617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心理健康这一环，值得一个产业集团认真进入。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我们已经在里面做了十年，愿意把这十年放进一个更大的盘子里一起做大。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漂浮方舟 · 中友瑞水（北京）科技有限公司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0" y="64739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645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心理健康是大健康里最重要、也最薄弱的一环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3246120"/>
            <a:ext cx="29260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474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中友瑞水（北京）科技有限公司 · 漂浮方舟 FLOATING ARK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北京亦庄   ｜   400-8869-783   ｜   www.float-ark.com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807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本材料用于初次交流。测算与规划数字为内部口径，尚未最终锁定；不构成疗效承诺、收益预测或投资要约。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漂浮方舟 FLOATING 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漂浮方舟 × 北京化工集团 · 心理健康赛道与产业联动</dc:title>
  <dc:subject>首次交流：赛道、可持续性与联动方向</dc:subject>
  <dc:creator>中友瑞水（北京）科技有限公司</dc:creator>
  <cp:lastModifiedBy>中友瑞水（北京）科技有限公司</cp:lastModifiedBy>
  <cp:revision>1</cp:revision>
  <dcterms:created xsi:type="dcterms:W3CDTF">2026-08-23T03:36:48Z</dcterms:created>
  <dcterms:modified xsi:type="dcterms:W3CDTF">2026-08-23T03:36:48Z</dcterms:modified>
</cp:coreProperties>
</file>